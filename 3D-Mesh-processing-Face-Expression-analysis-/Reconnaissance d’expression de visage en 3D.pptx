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5143500" cx="9144000"/>
  <p:notesSz cx="6858000" cy="9144000"/>
  <p:embeddedFontLst>
    <p:embeddedFont>
      <p:font typeface="Proxima Nova"/>
      <p:regular r:id="rId52"/>
      <p:bold r:id="rId53"/>
      <p:italic r:id="rId54"/>
      <p:boldItalic r:id="rId55"/>
    </p:embeddedFont>
    <p:embeddedFont>
      <p:font typeface="Alfa Slab One"/>
      <p:regular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ProximaNova-bold.fntdata"/><Relationship Id="rId52" Type="http://schemas.openxmlformats.org/officeDocument/2006/relationships/font" Target="fonts/ProximaNova-regular.fntdata"/><Relationship Id="rId11" Type="http://schemas.openxmlformats.org/officeDocument/2006/relationships/slide" Target="slides/slide6.xml"/><Relationship Id="rId55" Type="http://schemas.openxmlformats.org/officeDocument/2006/relationships/font" Target="fonts/ProximaNova-boldItalic.fntdata"/><Relationship Id="rId10" Type="http://schemas.openxmlformats.org/officeDocument/2006/relationships/slide" Target="slides/slide5.xml"/><Relationship Id="rId54" Type="http://schemas.openxmlformats.org/officeDocument/2006/relationships/font" Target="fonts/ProximaNova-italic.fntdata"/><Relationship Id="rId13" Type="http://schemas.openxmlformats.org/officeDocument/2006/relationships/slide" Target="slides/slide8.xml"/><Relationship Id="rId12" Type="http://schemas.openxmlformats.org/officeDocument/2006/relationships/slide" Target="slides/slide7.xml"/><Relationship Id="rId56" Type="http://schemas.openxmlformats.org/officeDocument/2006/relationships/font" Target="fonts/AlfaSlabOne-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120f4162c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120f4162c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120f4162c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120f4162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120f4162c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120f4162c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d57f603d8a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d57f603d8a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169aa7d52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169aa7d52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d57f603d8a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d57f603d8a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d57f603d8a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d57f603d8a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120f4162c0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120f4162c0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120f4162c0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120f4162c0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120f4162c0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120f4162c0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120f4162c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120f4162c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120f4162c0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120f4162c0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120f4162c0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120f4162c0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120f4162c0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120f4162c0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120f4162c0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120f4162c0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d57f603d8a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d57f603d8a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120f4162c0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120f4162c0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169aa7d5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169aa7d5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120f4162c0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120f4162c0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120f4162c0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120f4162c0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120f4162c0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120f4162c0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120f4162c0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120f4162c0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120f4162c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120f4162c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120f4162c0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120f4162c0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120f4162c0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120f4162c0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120f4162c0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120f4162c0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169aa7d52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169aa7d52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169aa7d52a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169aa7d52a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169aa7d52a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169aa7d52a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169aa7d52a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169aa7d52a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169aa7d52a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169aa7d52a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169aa7d52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169aa7d52a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169aa7d52a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169aa7d52a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d57f603d8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2d57f603d8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d57f603d8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d57f603d8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d57f603d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2d57f603d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169aa7d52a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169aa7d52a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169aa7d52a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169aa7d52a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d57f603d8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d57f603d8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169aa7d52a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169aa7d52a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2d57f603d8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2d57f603d8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169aa7d52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169aa7d52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169aa7d52a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169aa7d52a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169aa7d52a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169aa7d52a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120f4162c0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120f4162c0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0.png"/><Relationship Id="rId11" Type="http://schemas.openxmlformats.org/officeDocument/2006/relationships/image" Target="../media/image11.png"/><Relationship Id="rId10" Type="http://schemas.openxmlformats.org/officeDocument/2006/relationships/image" Target="../media/image12.png"/><Relationship Id="rId12" Type="http://schemas.openxmlformats.org/officeDocument/2006/relationships/image" Target="../media/image14.png"/><Relationship Id="rId9" Type="http://schemas.openxmlformats.org/officeDocument/2006/relationships/image" Target="../media/image4.png"/><Relationship Id="rId5" Type="http://schemas.openxmlformats.org/officeDocument/2006/relationships/image" Target="../media/image21.png"/><Relationship Id="rId6" Type="http://schemas.openxmlformats.org/officeDocument/2006/relationships/image" Target="../media/image5.png"/><Relationship Id="rId7" Type="http://schemas.openxmlformats.org/officeDocument/2006/relationships/image" Target="../media/image3.png"/><Relationship Id="rId8"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9.png"/><Relationship Id="rId11" Type="http://schemas.openxmlformats.org/officeDocument/2006/relationships/image" Target="../media/image13.png"/><Relationship Id="rId10" Type="http://schemas.openxmlformats.org/officeDocument/2006/relationships/image" Target="../media/image17.png"/><Relationship Id="rId9" Type="http://schemas.openxmlformats.org/officeDocument/2006/relationships/image" Target="../media/image8.png"/><Relationship Id="rId5" Type="http://schemas.openxmlformats.org/officeDocument/2006/relationships/image" Target="../media/image15.png"/><Relationship Id="rId6" Type="http://schemas.openxmlformats.org/officeDocument/2006/relationships/image" Target="../media/image2.png"/><Relationship Id="rId7" Type="http://schemas.openxmlformats.org/officeDocument/2006/relationships/image" Target="../media/image16.png"/><Relationship Id="rId8" Type="http://schemas.openxmlformats.org/officeDocument/2006/relationships/image" Target="../media/image1.png"/></Relationships>
</file>

<file path=ppt/slides/_rels/slide7.xml.rels><?xml version="1.0" encoding="UTF-8" standalone="yes"?><Relationships xmlns="http://schemas.openxmlformats.org/package/2006/relationships"><Relationship Id="rId11" Type="http://schemas.openxmlformats.org/officeDocument/2006/relationships/image" Target="../media/image19.png"/><Relationship Id="rId10" Type="http://schemas.openxmlformats.org/officeDocument/2006/relationships/image" Target="../media/image30.png"/><Relationship Id="rId13" Type="http://schemas.openxmlformats.org/officeDocument/2006/relationships/image" Target="../media/image27.png"/><Relationship Id="rId12" Type="http://schemas.openxmlformats.org/officeDocument/2006/relationships/image" Target="../media/image26.png"/><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3.png"/><Relationship Id="rId4" Type="http://schemas.openxmlformats.org/officeDocument/2006/relationships/image" Target="../media/image24.png"/><Relationship Id="rId9" Type="http://schemas.openxmlformats.org/officeDocument/2006/relationships/image" Target="../media/image25.png"/><Relationship Id="rId15" Type="http://schemas.openxmlformats.org/officeDocument/2006/relationships/image" Target="../media/image29.png"/><Relationship Id="rId14" Type="http://schemas.openxmlformats.org/officeDocument/2006/relationships/image" Target="../media/image32.png"/><Relationship Id="rId16" Type="http://schemas.openxmlformats.org/officeDocument/2006/relationships/image" Target="../media/image22.png"/><Relationship Id="rId5" Type="http://schemas.openxmlformats.org/officeDocument/2006/relationships/image" Target="../media/image20.png"/><Relationship Id="rId6" Type="http://schemas.openxmlformats.org/officeDocument/2006/relationships/image" Target="../media/image28.png"/><Relationship Id="rId7" Type="http://schemas.openxmlformats.org/officeDocument/2006/relationships/image" Target="../media/image42.png"/><Relationship Id="rId8" Type="http://schemas.openxmlformats.org/officeDocument/2006/relationships/image" Target="../media/image31.png"/></Relationships>
</file>

<file path=ppt/slides/_rels/slide8.xml.rels><?xml version="1.0" encoding="UTF-8" standalone="yes"?><Relationships xmlns="http://schemas.openxmlformats.org/package/2006/relationships"><Relationship Id="rId11" Type="http://schemas.openxmlformats.org/officeDocument/2006/relationships/image" Target="../media/image19.png"/><Relationship Id="rId10" Type="http://schemas.openxmlformats.org/officeDocument/2006/relationships/image" Target="../media/image30.png"/><Relationship Id="rId13" Type="http://schemas.openxmlformats.org/officeDocument/2006/relationships/image" Target="../media/image27.png"/><Relationship Id="rId12" Type="http://schemas.openxmlformats.org/officeDocument/2006/relationships/image" Target="../media/image26.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3.png"/><Relationship Id="rId4" Type="http://schemas.openxmlformats.org/officeDocument/2006/relationships/image" Target="../media/image24.png"/><Relationship Id="rId9" Type="http://schemas.openxmlformats.org/officeDocument/2006/relationships/image" Target="../media/image25.png"/><Relationship Id="rId15" Type="http://schemas.openxmlformats.org/officeDocument/2006/relationships/image" Target="../media/image29.png"/><Relationship Id="rId14" Type="http://schemas.openxmlformats.org/officeDocument/2006/relationships/image" Target="../media/image32.png"/><Relationship Id="rId16" Type="http://schemas.openxmlformats.org/officeDocument/2006/relationships/image" Target="../media/image22.png"/><Relationship Id="rId5" Type="http://schemas.openxmlformats.org/officeDocument/2006/relationships/image" Target="../media/image20.png"/><Relationship Id="rId6" Type="http://schemas.openxmlformats.org/officeDocument/2006/relationships/image" Target="../media/image28.png"/><Relationship Id="rId7" Type="http://schemas.openxmlformats.org/officeDocument/2006/relationships/image" Target="../media/image42.png"/><Relationship Id="rId8"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8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6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35.png"/><Relationship Id="rId4" Type="http://schemas.openxmlformats.org/officeDocument/2006/relationships/image" Target="../media/image49.png"/><Relationship Id="rId5" Type="http://schemas.openxmlformats.org/officeDocument/2006/relationships/image" Target="../media/image5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52.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37.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87.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4.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7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0" Type="http://schemas.openxmlformats.org/officeDocument/2006/relationships/image" Target="../media/image45.png"/><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0.png"/><Relationship Id="rId4" Type="http://schemas.openxmlformats.org/officeDocument/2006/relationships/hyperlink" Target="https://en.wikipedia.org/wiki/Scale-invariant_feature_transform" TargetMode="External"/><Relationship Id="rId9" Type="http://schemas.openxmlformats.org/officeDocument/2006/relationships/image" Target="../media/image46.png"/><Relationship Id="rId5" Type="http://schemas.openxmlformats.org/officeDocument/2006/relationships/image" Target="../media/image40.png"/><Relationship Id="rId6" Type="http://schemas.openxmlformats.org/officeDocument/2006/relationships/image" Target="../media/image43.png"/><Relationship Id="rId7" Type="http://schemas.openxmlformats.org/officeDocument/2006/relationships/image" Target="../media/image44.png"/><Relationship Id="rId8" Type="http://schemas.openxmlformats.org/officeDocument/2006/relationships/image" Target="../media/image6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8.png"/><Relationship Id="rId4" Type="http://schemas.openxmlformats.org/officeDocument/2006/relationships/image" Target="../media/image74.png"/><Relationship Id="rId5" Type="http://schemas.openxmlformats.org/officeDocument/2006/relationships/image" Target="../media/image47.png"/><Relationship Id="rId6" Type="http://schemas.openxmlformats.org/officeDocument/2006/relationships/image" Target="../media/image60.png"/><Relationship Id="rId7" Type="http://schemas.openxmlformats.org/officeDocument/2006/relationships/image" Target="../media/image6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1.png"/></Relationships>
</file>

<file path=ppt/slides/_rels/slide31.xml.rels><?xml version="1.0" encoding="UTF-8" standalone="yes"?><Relationships xmlns="http://schemas.openxmlformats.org/package/2006/relationships"><Relationship Id="rId10" Type="http://schemas.openxmlformats.org/officeDocument/2006/relationships/image" Target="../media/image71.png"/><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5.png"/><Relationship Id="rId4" Type="http://schemas.openxmlformats.org/officeDocument/2006/relationships/image" Target="../media/image58.png"/><Relationship Id="rId9" Type="http://schemas.openxmlformats.org/officeDocument/2006/relationships/image" Target="../media/image83.png"/><Relationship Id="rId5" Type="http://schemas.openxmlformats.org/officeDocument/2006/relationships/image" Target="../media/image61.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85.png"/></Relationships>
</file>

<file path=ppt/slides/_rels/slide32.xml.rels><?xml version="1.0" encoding="UTF-8" standalone="yes"?><Relationships xmlns="http://schemas.openxmlformats.org/package/2006/relationships"><Relationship Id="rId10" Type="http://schemas.openxmlformats.org/officeDocument/2006/relationships/image" Target="../media/image78.png"/><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63.png"/><Relationship Id="rId4" Type="http://schemas.openxmlformats.org/officeDocument/2006/relationships/image" Target="../media/image77.png"/><Relationship Id="rId9" Type="http://schemas.openxmlformats.org/officeDocument/2006/relationships/image" Target="../media/image66.png"/><Relationship Id="rId5" Type="http://schemas.openxmlformats.org/officeDocument/2006/relationships/image" Target="../media/image69.png"/><Relationship Id="rId6" Type="http://schemas.openxmlformats.org/officeDocument/2006/relationships/image" Target="../media/image75.png"/><Relationship Id="rId7" Type="http://schemas.openxmlformats.org/officeDocument/2006/relationships/image" Target="../media/image73.png"/><Relationship Id="rId8" Type="http://schemas.openxmlformats.org/officeDocument/2006/relationships/image" Target="../media/image8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76.png"/><Relationship Id="rId4" Type="http://schemas.openxmlformats.org/officeDocument/2006/relationships/image" Target="../media/image88.png"/><Relationship Id="rId5" Type="http://schemas.openxmlformats.org/officeDocument/2006/relationships/image" Target="../media/image82.png"/><Relationship Id="rId6" Type="http://schemas.openxmlformats.org/officeDocument/2006/relationships/image" Target="../media/image72.png"/><Relationship Id="rId7" Type="http://schemas.openxmlformats.org/officeDocument/2006/relationships/image" Target="../media/image7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69.png"/><Relationship Id="rId4" Type="http://schemas.openxmlformats.org/officeDocument/2006/relationships/image" Target="../media/image75.png"/><Relationship Id="rId5" Type="http://schemas.openxmlformats.org/officeDocument/2006/relationships/image" Target="../media/image73.png"/><Relationship Id="rId6" Type="http://schemas.openxmlformats.org/officeDocument/2006/relationships/image" Target="../media/image8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8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9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9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8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9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9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98.png"/><Relationship Id="rId4" Type="http://schemas.openxmlformats.org/officeDocument/2006/relationships/image" Target="../media/image8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9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90.png"/><Relationship Id="rId4" Type="http://schemas.openxmlformats.org/officeDocument/2006/relationships/image" Target="../media/image8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9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9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744500"/>
            <a:ext cx="8520600" cy="1521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fr" sz="4059"/>
              <a:t>Recon</a:t>
            </a:r>
            <a:r>
              <a:rPr lang="fr" sz="4059"/>
              <a:t>naissance d’expressions de visage en </a:t>
            </a:r>
            <a:r>
              <a:rPr lang="fr" sz="4059"/>
              <a:t>3D</a:t>
            </a:r>
            <a:endParaRPr sz="4059"/>
          </a:p>
        </p:txBody>
      </p:sp>
      <p:sp>
        <p:nvSpPr>
          <p:cNvPr id="57" name="Google Shape;57;p13"/>
          <p:cNvSpPr txBox="1"/>
          <p:nvPr>
            <p:ph idx="1" type="subTitle"/>
          </p:nvPr>
        </p:nvSpPr>
        <p:spPr>
          <a:xfrm>
            <a:off x="311700" y="1919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fr" sz="3000"/>
              <a:t>Problème Posé</a:t>
            </a:r>
            <a:endParaRPr sz="3000"/>
          </a:p>
        </p:txBody>
      </p:sp>
      <p:sp>
        <p:nvSpPr>
          <p:cNvPr id="58" name="Google Shape;58;p13"/>
          <p:cNvSpPr txBox="1"/>
          <p:nvPr/>
        </p:nvSpPr>
        <p:spPr>
          <a:xfrm>
            <a:off x="1200150" y="3504150"/>
            <a:ext cx="6681900" cy="122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800">
                <a:solidFill>
                  <a:schemeClr val="dk2"/>
                </a:solidFill>
                <a:latin typeface="Proxima Nova"/>
                <a:ea typeface="Proxima Nova"/>
                <a:cs typeface="Proxima Nova"/>
                <a:sym typeface="Proxima Nova"/>
              </a:rPr>
              <a:t>travail présenté par:</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fr" sz="1800">
                <a:solidFill>
                  <a:schemeClr val="dk2"/>
                </a:solidFill>
                <a:latin typeface="Proxima Nova"/>
                <a:ea typeface="Proxima Nova"/>
                <a:cs typeface="Proxima Nova"/>
                <a:sym typeface="Proxima Nova"/>
              </a:rPr>
              <a:t>							Malek Dinari</a:t>
            </a:r>
            <a:endParaRPr sz="1800">
              <a:solidFill>
                <a:schemeClr val="dk2"/>
              </a:solidFill>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6318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fr" sz="3100" u="sng"/>
              <a:t>Contexte et Objectif</a:t>
            </a:r>
            <a:endParaRPr sz="3100" u="sng"/>
          </a:p>
        </p:txBody>
      </p:sp>
      <p:sp>
        <p:nvSpPr>
          <p:cNvPr id="64" name="Google Shape;64;p14"/>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sz="1900"/>
              <a:t>Dans cette étude, nous explorons des méthodes pour extraire des descripteurs locaux sur des maillages 3D simplifiés pour l'identification d'expressions faciales.</a:t>
            </a:r>
            <a:endParaRPr sz="1900"/>
          </a:p>
        </p:txBody>
      </p:sp>
      <p:sp>
        <p:nvSpPr>
          <p:cNvPr id="65" name="Google Shape;65;p14"/>
          <p:cNvSpPr txBox="1"/>
          <p:nvPr/>
        </p:nvSpPr>
        <p:spPr>
          <a:xfrm>
            <a:off x="3478325" y="234375"/>
            <a:ext cx="4638600" cy="75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2900">
                <a:latin typeface="Proxima Nova"/>
                <a:ea typeface="Proxima Nova"/>
                <a:cs typeface="Proxima Nova"/>
                <a:sym typeface="Proxima Nova"/>
              </a:rPr>
              <a:t>Défi principal</a:t>
            </a:r>
            <a:r>
              <a:rPr lang="fr" sz="2900">
                <a:latin typeface="Proxima Nova"/>
                <a:ea typeface="Proxima Nova"/>
                <a:cs typeface="Proxima Nova"/>
                <a:sym typeface="Proxima Nova"/>
              </a:rPr>
              <a:t>:</a:t>
            </a:r>
            <a:endParaRPr sz="2900">
              <a:solidFill>
                <a:schemeClr val="dk2"/>
              </a:solidFill>
              <a:latin typeface="Proxima Nova"/>
              <a:ea typeface="Proxima Nova"/>
              <a:cs typeface="Proxima Nova"/>
              <a:sym typeface="Proxima Nova"/>
            </a:endParaRPr>
          </a:p>
        </p:txBody>
      </p:sp>
      <p:sp>
        <p:nvSpPr>
          <p:cNvPr id="66" name="Google Shape;66;p14"/>
          <p:cNvSpPr txBox="1"/>
          <p:nvPr/>
        </p:nvSpPr>
        <p:spPr>
          <a:xfrm>
            <a:off x="3537050" y="2412050"/>
            <a:ext cx="5084700" cy="35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900">
                <a:solidFill>
                  <a:schemeClr val="dk2"/>
                </a:solidFill>
                <a:latin typeface="Proxima Nova"/>
                <a:ea typeface="Proxima Nova"/>
                <a:cs typeface="Proxima Nova"/>
                <a:sym typeface="Proxima Nova"/>
              </a:rPr>
              <a:t>Identifier des points invariants et représentatifs des variations d'expressions, malgré les transformations (</a:t>
            </a:r>
            <a:r>
              <a:rPr lang="fr" sz="1900">
                <a:solidFill>
                  <a:schemeClr val="dk2"/>
                </a:solidFill>
                <a:latin typeface="Proxima Nova"/>
                <a:ea typeface="Proxima Nova"/>
                <a:cs typeface="Proxima Nova"/>
                <a:sym typeface="Proxima Nova"/>
              </a:rPr>
              <a:t>rotations, échelle et translation) </a:t>
            </a:r>
            <a:r>
              <a:rPr lang="fr" sz="1900">
                <a:solidFill>
                  <a:schemeClr val="dk2"/>
                </a:solidFill>
                <a:latin typeface="Proxima Nova"/>
                <a:ea typeface="Proxima Nova"/>
                <a:cs typeface="Proxima Nova"/>
                <a:sym typeface="Proxima Nova"/>
              </a:rPr>
              <a:t>du maillage.</a:t>
            </a:r>
            <a:endParaRPr sz="190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90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900">
              <a:solidFill>
                <a:schemeClr val="dk2"/>
              </a:solidFill>
              <a:latin typeface="Proxima Nova"/>
              <a:ea typeface="Proxima Nova"/>
              <a:cs typeface="Proxima Nova"/>
              <a:sym typeface="Proxima Nova"/>
            </a:endParaRPr>
          </a:p>
        </p:txBody>
      </p:sp>
      <p:cxnSp>
        <p:nvCxnSpPr>
          <p:cNvPr id="67" name="Google Shape;67;p14"/>
          <p:cNvCxnSpPr/>
          <p:nvPr/>
        </p:nvCxnSpPr>
        <p:spPr>
          <a:xfrm>
            <a:off x="3175725" y="105750"/>
            <a:ext cx="11700" cy="4932000"/>
          </a:xfrm>
          <a:prstGeom prst="straightConnector1">
            <a:avLst/>
          </a:prstGeom>
          <a:noFill/>
          <a:ln cap="flat" cmpd="sng" w="9525">
            <a:solidFill>
              <a:schemeClr val="dk2"/>
            </a:solidFill>
            <a:prstDash val="solid"/>
            <a:round/>
            <a:headEnd len="med" w="med" type="none"/>
            <a:tailEnd len="med" w="med" type="none"/>
          </a:ln>
          <a:effectLst>
            <a:outerShdw blurRad="142875" rotWithShape="0" algn="bl" dir="5400000" dist="19050">
              <a:srgbClr val="000000">
                <a:alpha val="50000"/>
              </a:srgbClr>
            </a:outerShdw>
            <a:reflection blurRad="0" dir="5400000" dist="38100" endA="0" endPos="30000" fadeDir="5400012" kx="0" rotWithShape="0" algn="bl" stPos="0" sy="-100000" ky="0"/>
          </a:effectLst>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idx="1" type="body"/>
          </p:nvPr>
        </p:nvSpPr>
        <p:spPr>
          <a:xfrm>
            <a:off x="311700" y="2127125"/>
            <a:ext cx="8520600" cy="2938800"/>
          </a:xfrm>
          <a:prstGeom prst="rect">
            <a:avLst/>
          </a:prstGeom>
        </p:spPr>
        <p:txBody>
          <a:bodyPr anchorCtr="0" anchor="t" bIns="91425" lIns="91425" spcFirstLastPara="1" rIns="91425" wrap="square" tIns="91425">
            <a:normAutofit fontScale="62500" lnSpcReduction="20000"/>
          </a:bodyPr>
          <a:lstStyle/>
          <a:p>
            <a:pPr indent="-341709" lvl="0" marL="457200" rtl="0" algn="l">
              <a:spcBef>
                <a:spcPts val="0"/>
              </a:spcBef>
              <a:spcAft>
                <a:spcPts val="0"/>
              </a:spcAft>
              <a:buClr>
                <a:srgbClr val="000000"/>
              </a:buClr>
              <a:buSzPct val="100000"/>
              <a:buChar char="●"/>
            </a:pPr>
            <a:r>
              <a:rPr b="1" lang="fr" sz="2850">
                <a:solidFill>
                  <a:srgbClr val="000000"/>
                </a:solidFill>
              </a:rPr>
              <a:t>Approches courantes</a:t>
            </a:r>
            <a:r>
              <a:rPr lang="fr" sz="2850">
                <a:solidFill>
                  <a:srgbClr val="000000"/>
                </a:solidFill>
              </a:rPr>
              <a:t> : Utilisation des descripteurs locaux tels que </a:t>
            </a:r>
            <a:r>
              <a:rPr b="1" lang="fr" sz="2850">
                <a:solidFill>
                  <a:srgbClr val="000000"/>
                </a:solidFill>
              </a:rPr>
              <a:t>HOG</a:t>
            </a:r>
            <a:r>
              <a:rPr lang="fr" sz="2850">
                <a:solidFill>
                  <a:srgbClr val="000000"/>
                </a:solidFill>
              </a:rPr>
              <a:t> d’orientation et SIFT pour extraire des caractéristiques locales invariantes.</a:t>
            </a:r>
            <a:endParaRPr sz="2850">
              <a:solidFill>
                <a:srgbClr val="000000"/>
              </a:solidFill>
            </a:endParaRPr>
          </a:p>
          <a:p>
            <a:pPr indent="0" lvl="0" marL="457200" rtl="0" algn="l">
              <a:spcBef>
                <a:spcPts val="1200"/>
              </a:spcBef>
              <a:spcAft>
                <a:spcPts val="0"/>
              </a:spcAft>
              <a:buNone/>
            </a:pPr>
            <a:r>
              <a:t/>
            </a:r>
            <a:endParaRPr sz="2000">
              <a:solidFill>
                <a:srgbClr val="000000"/>
              </a:solidFill>
            </a:endParaRPr>
          </a:p>
          <a:p>
            <a:pPr indent="-348059" lvl="0" marL="457200" rtl="0" algn="l">
              <a:spcBef>
                <a:spcPts val="1200"/>
              </a:spcBef>
              <a:spcAft>
                <a:spcPts val="0"/>
              </a:spcAft>
              <a:buClr>
                <a:srgbClr val="000000"/>
              </a:buClr>
              <a:buSzPct val="100000"/>
              <a:buChar char="●"/>
            </a:pPr>
            <a:r>
              <a:rPr b="1" lang="fr" sz="3010">
                <a:solidFill>
                  <a:srgbClr val="000000"/>
                </a:solidFill>
              </a:rPr>
              <a:t>Pourquoi HOG ?</a:t>
            </a:r>
            <a:r>
              <a:rPr lang="fr" sz="3010">
                <a:solidFill>
                  <a:srgbClr val="000000"/>
                </a:solidFill>
              </a:rPr>
              <a:t> : Les Histogrammes de Gradients Orientés (HOG) sont choisis en raison de leur robustesse pour capturer la géométrie locale autour des points de maillage. Ils sont particulièrement efficaces pour identifier des informations orientées dans des régions ou la forme sont pertinentes pour la reconnaissance.</a:t>
            </a:r>
            <a:endParaRPr sz="3010">
              <a:solidFill>
                <a:srgbClr val="000000"/>
              </a:solidFill>
            </a:endParaRPr>
          </a:p>
          <a:p>
            <a:pPr indent="0" lvl="0" marL="0" rtl="0" algn="l">
              <a:spcBef>
                <a:spcPts val="1200"/>
              </a:spcBef>
              <a:spcAft>
                <a:spcPts val="1200"/>
              </a:spcAft>
              <a:buNone/>
            </a:pPr>
            <a:r>
              <a:t/>
            </a:r>
            <a:endParaRPr sz="2000">
              <a:solidFill>
                <a:srgbClr val="000000"/>
              </a:solidFill>
            </a:endParaRPr>
          </a:p>
        </p:txBody>
      </p:sp>
      <p:sp>
        <p:nvSpPr>
          <p:cNvPr id="73" name="Google Shape;73;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fr" u="sng"/>
              <a:t>Etat de l’art:</a:t>
            </a:r>
            <a:r>
              <a:rPr lang="fr"/>
              <a:t> nos connaissance dans ce domaine/les applications et méthodologies existantes</a:t>
            </a:r>
            <a:endParaRPr/>
          </a:p>
        </p:txBody>
      </p:sp>
      <p:cxnSp>
        <p:nvCxnSpPr>
          <p:cNvPr id="74" name="Google Shape;74;p15"/>
          <p:cNvCxnSpPr/>
          <p:nvPr/>
        </p:nvCxnSpPr>
        <p:spPr>
          <a:xfrm>
            <a:off x="213725" y="1848375"/>
            <a:ext cx="8607600" cy="11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2. </a:t>
            </a:r>
            <a:r>
              <a:rPr lang="fr" u="sng"/>
              <a:t>Méthode retenue:  (</a:t>
            </a:r>
            <a:r>
              <a:rPr lang="fr" u="sng"/>
              <a:t>1/8</a:t>
            </a:r>
            <a:r>
              <a:rPr lang="fr" u="sng"/>
              <a:t>)</a:t>
            </a:r>
            <a:endParaRPr u="sng"/>
          </a:p>
        </p:txBody>
      </p:sp>
      <p:sp>
        <p:nvSpPr>
          <p:cNvPr id="80" name="Google Shape;80;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b="1" lang="fr" sz="2000">
                <a:solidFill>
                  <a:srgbClr val="000000"/>
                </a:solidFill>
              </a:rPr>
              <a:t>Décimation Quadratique</a:t>
            </a:r>
            <a:r>
              <a:rPr lang="fr" sz="2000">
                <a:solidFill>
                  <a:srgbClr val="000000"/>
                </a:solidFill>
              </a:rPr>
              <a:t> : Réduction de la densité du maillage de </a:t>
            </a:r>
            <a:r>
              <a:rPr b="1" lang="fr" sz="2000">
                <a:solidFill>
                  <a:srgbClr val="000000"/>
                </a:solidFill>
              </a:rPr>
              <a:t>149,178 points à 500 triangles, </a:t>
            </a:r>
            <a:r>
              <a:rPr lang="fr" sz="2000">
                <a:solidFill>
                  <a:srgbClr val="000000"/>
                </a:solidFill>
              </a:rPr>
              <a:t>pour simplifier les calculs tout en préservant la géométrie globale du visage. Cette réduction permet une meilleure gestion des calculs tout en restant fidèle aux structures essentielles.</a:t>
            </a:r>
            <a:endParaRPr sz="2000"/>
          </a:p>
          <a:p>
            <a:pPr indent="-355600" lvl="0" marL="457200" rtl="0" algn="l">
              <a:spcBef>
                <a:spcPts val="0"/>
              </a:spcBef>
              <a:spcAft>
                <a:spcPts val="0"/>
              </a:spcAft>
              <a:buSzPts val="2000"/>
              <a:buChar char="-"/>
            </a:pPr>
            <a:r>
              <a:rPr b="1" lang="fr" sz="2000">
                <a:solidFill>
                  <a:srgbClr val="000000"/>
                </a:solidFill>
              </a:rPr>
              <a:t>D</a:t>
            </a:r>
            <a:r>
              <a:rPr b="1" lang="fr" sz="2000">
                <a:solidFill>
                  <a:srgbClr val="000000"/>
                </a:solidFill>
              </a:rPr>
              <a:t>escripteurs HOG sur chaque point</a:t>
            </a:r>
            <a:r>
              <a:rPr lang="fr" sz="2000">
                <a:solidFill>
                  <a:srgbClr val="000000"/>
                </a:solidFill>
              </a:rPr>
              <a:t> : Application des </a:t>
            </a:r>
            <a:r>
              <a:rPr b="1" lang="fr" sz="2000">
                <a:solidFill>
                  <a:srgbClr val="000000"/>
                </a:solidFill>
              </a:rPr>
              <a:t>HOG</a:t>
            </a:r>
            <a:r>
              <a:rPr lang="fr" sz="2000">
                <a:solidFill>
                  <a:srgbClr val="000000"/>
                </a:solidFill>
              </a:rPr>
              <a:t> pour capturer la géométrie locale autour de chaque sommet du maillage. Chaque point reçoit un vecteur de descripteur qui contient des informations sur l’orientation locale.</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nvSpPr>
        <p:spPr>
          <a:xfrm>
            <a:off x="0" y="0"/>
            <a:ext cx="3000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3000">
                <a:solidFill>
                  <a:schemeClr val="accent3"/>
                </a:solidFill>
                <a:latin typeface="Alfa Slab One"/>
                <a:ea typeface="Alfa Slab One"/>
                <a:cs typeface="Alfa Slab One"/>
                <a:sym typeface="Alfa Slab One"/>
              </a:rPr>
              <a:t>2. </a:t>
            </a:r>
            <a:r>
              <a:rPr lang="fr" sz="3000" u="sng">
                <a:solidFill>
                  <a:schemeClr val="accent3"/>
                </a:solidFill>
                <a:latin typeface="Alfa Slab One"/>
                <a:ea typeface="Alfa Slab One"/>
                <a:cs typeface="Alfa Slab One"/>
                <a:sym typeface="Alfa Slab One"/>
              </a:rPr>
              <a:t>Méthode retenue: (2/8)</a:t>
            </a:r>
            <a:endParaRPr sz="3000" u="sng">
              <a:solidFill>
                <a:schemeClr val="accent3"/>
              </a:solidFill>
              <a:latin typeface="Alfa Slab One"/>
              <a:ea typeface="Alfa Slab One"/>
              <a:cs typeface="Alfa Slab One"/>
              <a:sym typeface="Alfa Slab One"/>
            </a:endParaRPr>
          </a:p>
        </p:txBody>
      </p:sp>
      <p:sp>
        <p:nvSpPr>
          <p:cNvPr id="86" name="Google Shape;86;p17"/>
          <p:cNvSpPr txBox="1"/>
          <p:nvPr/>
        </p:nvSpPr>
        <p:spPr>
          <a:xfrm>
            <a:off x="3327575" y="289450"/>
            <a:ext cx="5739600" cy="7671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2"/>
              </a:buClr>
              <a:buSzPts val="2000"/>
              <a:buFont typeface="Proxima Nova"/>
              <a:buChar char="●"/>
            </a:pPr>
            <a:r>
              <a:rPr lang="fr" sz="2000">
                <a:solidFill>
                  <a:schemeClr val="dk2"/>
                </a:solidFill>
                <a:latin typeface="Proxima Nova"/>
                <a:ea typeface="Proxima Nova"/>
                <a:cs typeface="Proxima Nova"/>
                <a:sym typeface="Proxima Nova"/>
              </a:rPr>
              <a:t>Différentes é</a:t>
            </a:r>
            <a:r>
              <a:rPr lang="fr" sz="2000">
                <a:solidFill>
                  <a:schemeClr val="dk2"/>
                </a:solidFill>
                <a:latin typeface="Proxima Nova"/>
                <a:ea typeface="Proxima Nova"/>
                <a:cs typeface="Proxima Nova"/>
                <a:sym typeface="Proxima Nova"/>
              </a:rPr>
              <a:t>tapes</a:t>
            </a:r>
            <a:r>
              <a:rPr lang="fr" sz="2000">
                <a:solidFill>
                  <a:schemeClr val="dk2"/>
                </a:solidFill>
                <a:latin typeface="Proxima Nova"/>
                <a:ea typeface="Proxima Nova"/>
                <a:cs typeface="Proxima Nova"/>
                <a:sym typeface="Proxima Nova"/>
              </a:rPr>
              <a:t> de méthode des Histogrammes de Gradient</a:t>
            </a:r>
            <a:endParaRPr sz="2000">
              <a:solidFill>
                <a:schemeClr val="dk2"/>
              </a:solidFill>
              <a:latin typeface="Proxima Nova"/>
              <a:ea typeface="Proxima Nova"/>
              <a:cs typeface="Proxima Nova"/>
              <a:sym typeface="Proxima Nova"/>
            </a:endParaRPr>
          </a:p>
        </p:txBody>
      </p:sp>
      <p:pic>
        <p:nvPicPr>
          <p:cNvPr id="87" name="Google Shape;87;p17"/>
          <p:cNvPicPr preferRelativeResize="0"/>
          <p:nvPr/>
        </p:nvPicPr>
        <p:blipFill>
          <a:blip r:embed="rId3">
            <a:alphaModFix/>
          </a:blip>
          <a:stretch>
            <a:fillRect/>
          </a:stretch>
        </p:blipFill>
        <p:spPr>
          <a:xfrm>
            <a:off x="105425" y="1175125"/>
            <a:ext cx="2124075" cy="381000"/>
          </a:xfrm>
          <a:prstGeom prst="rect">
            <a:avLst/>
          </a:prstGeom>
          <a:noFill/>
          <a:ln>
            <a:noFill/>
          </a:ln>
        </p:spPr>
      </p:pic>
      <p:pic>
        <p:nvPicPr>
          <p:cNvPr id="88" name="Google Shape;88;p17"/>
          <p:cNvPicPr preferRelativeResize="0"/>
          <p:nvPr/>
        </p:nvPicPr>
        <p:blipFill>
          <a:blip r:embed="rId4">
            <a:alphaModFix/>
          </a:blip>
          <a:stretch>
            <a:fillRect/>
          </a:stretch>
        </p:blipFill>
        <p:spPr>
          <a:xfrm>
            <a:off x="2420050" y="1473925"/>
            <a:ext cx="6553200" cy="238125"/>
          </a:xfrm>
          <a:prstGeom prst="rect">
            <a:avLst/>
          </a:prstGeom>
          <a:noFill/>
          <a:ln>
            <a:noFill/>
          </a:ln>
        </p:spPr>
      </p:pic>
      <p:cxnSp>
        <p:nvCxnSpPr>
          <p:cNvPr id="89" name="Google Shape;89;p17"/>
          <p:cNvCxnSpPr/>
          <p:nvPr/>
        </p:nvCxnSpPr>
        <p:spPr>
          <a:xfrm>
            <a:off x="4073175" y="1175125"/>
            <a:ext cx="3714900" cy="1200"/>
          </a:xfrm>
          <a:prstGeom prst="straightConnector1">
            <a:avLst/>
          </a:prstGeom>
          <a:noFill/>
          <a:ln cap="flat" cmpd="sng" w="9525">
            <a:solidFill>
              <a:schemeClr val="dk2"/>
            </a:solidFill>
            <a:prstDash val="solid"/>
            <a:round/>
            <a:headEnd len="med" w="med" type="none"/>
            <a:tailEnd len="med" w="med" type="none"/>
          </a:ln>
        </p:spPr>
      </p:cxnSp>
      <p:pic>
        <p:nvPicPr>
          <p:cNvPr id="90" name="Google Shape;90;p17"/>
          <p:cNvPicPr preferRelativeResize="0"/>
          <p:nvPr/>
        </p:nvPicPr>
        <p:blipFill>
          <a:blip r:embed="rId5">
            <a:alphaModFix/>
          </a:blip>
          <a:stretch>
            <a:fillRect/>
          </a:stretch>
        </p:blipFill>
        <p:spPr>
          <a:xfrm>
            <a:off x="234600" y="2129425"/>
            <a:ext cx="3981450" cy="209550"/>
          </a:xfrm>
          <a:prstGeom prst="rect">
            <a:avLst/>
          </a:prstGeom>
          <a:noFill/>
          <a:ln>
            <a:noFill/>
          </a:ln>
        </p:spPr>
      </p:pic>
      <p:pic>
        <p:nvPicPr>
          <p:cNvPr id="91" name="Google Shape;91;p17"/>
          <p:cNvPicPr preferRelativeResize="0"/>
          <p:nvPr/>
        </p:nvPicPr>
        <p:blipFill>
          <a:blip r:embed="rId6">
            <a:alphaModFix/>
          </a:blip>
          <a:stretch>
            <a:fillRect/>
          </a:stretch>
        </p:blipFill>
        <p:spPr>
          <a:xfrm>
            <a:off x="4368200" y="2129425"/>
            <a:ext cx="2419350" cy="228600"/>
          </a:xfrm>
          <a:prstGeom prst="rect">
            <a:avLst/>
          </a:prstGeom>
          <a:noFill/>
          <a:ln>
            <a:noFill/>
          </a:ln>
        </p:spPr>
      </p:pic>
      <p:pic>
        <p:nvPicPr>
          <p:cNvPr id="92" name="Google Shape;92;p17"/>
          <p:cNvPicPr preferRelativeResize="0"/>
          <p:nvPr/>
        </p:nvPicPr>
        <p:blipFill>
          <a:blip r:embed="rId7">
            <a:alphaModFix/>
          </a:blip>
          <a:stretch>
            <a:fillRect/>
          </a:stretch>
        </p:blipFill>
        <p:spPr>
          <a:xfrm>
            <a:off x="152400" y="2510425"/>
            <a:ext cx="4600575" cy="295275"/>
          </a:xfrm>
          <a:prstGeom prst="rect">
            <a:avLst/>
          </a:prstGeom>
          <a:noFill/>
          <a:ln>
            <a:noFill/>
          </a:ln>
        </p:spPr>
      </p:pic>
      <p:pic>
        <p:nvPicPr>
          <p:cNvPr id="93" name="Google Shape;93;p17"/>
          <p:cNvPicPr preferRelativeResize="0"/>
          <p:nvPr/>
        </p:nvPicPr>
        <p:blipFill>
          <a:blip r:embed="rId8">
            <a:alphaModFix/>
          </a:blip>
          <a:stretch>
            <a:fillRect/>
          </a:stretch>
        </p:blipFill>
        <p:spPr>
          <a:xfrm>
            <a:off x="654625" y="3181575"/>
            <a:ext cx="7620000" cy="819150"/>
          </a:xfrm>
          <a:prstGeom prst="rect">
            <a:avLst/>
          </a:prstGeom>
          <a:noFill/>
          <a:ln>
            <a:noFill/>
          </a:ln>
        </p:spPr>
      </p:pic>
      <p:pic>
        <p:nvPicPr>
          <p:cNvPr id="94" name="Google Shape;94;p17"/>
          <p:cNvPicPr preferRelativeResize="0"/>
          <p:nvPr/>
        </p:nvPicPr>
        <p:blipFill>
          <a:blip r:embed="rId9">
            <a:alphaModFix/>
          </a:blip>
          <a:stretch>
            <a:fillRect/>
          </a:stretch>
        </p:blipFill>
        <p:spPr>
          <a:xfrm>
            <a:off x="572413" y="4207925"/>
            <a:ext cx="2219325" cy="361950"/>
          </a:xfrm>
          <a:prstGeom prst="rect">
            <a:avLst/>
          </a:prstGeom>
          <a:noFill/>
          <a:ln>
            <a:noFill/>
          </a:ln>
        </p:spPr>
      </p:pic>
      <p:pic>
        <p:nvPicPr>
          <p:cNvPr id="95" name="Google Shape;95;p17"/>
          <p:cNvPicPr preferRelativeResize="0"/>
          <p:nvPr/>
        </p:nvPicPr>
        <p:blipFill>
          <a:blip r:embed="rId10">
            <a:alphaModFix/>
          </a:blip>
          <a:stretch>
            <a:fillRect/>
          </a:stretch>
        </p:blipFill>
        <p:spPr>
          <a:xfrm>
            <a:off x="2942288" y="4259563"/>
            <a:ext cx="5010150" cy="238125"/>
          </a:xfrm>
          <a:prstGeom prst="rect">
            <a:avLst/>
          </a:prstGeom>
          <a:noFill/>
          <a:ln>
            <a:noFill/>
          </a:ln>
        </p:spPr>
      </p:pic>
      <p:pic>
        <p:nvPicPr>
          <p:cNvPr id="96" name="Google Shape;96;p17"/>
          <p:cNvPicPr preferRelativeResize="0"/>
          <p:nvPr/>
        </p:nvPicPr>
        <p:blipFill>
          <a:blip r:embed="rId11">
            <a:alphaModFix/>
          </a:blip>
          <a:stretch>
            <a:fillRect/>
          </a:stretch>
        </p:blipFill>
        <p:spPr>
          <a:xfrm>
            <a:off x="7952443" y="4269825"/>
            <a:ext cx="926981" cy="238125"/>
          </a:xfrm>
          <a:prstGeom prst="rect">
            <a:avLst/>
          </a:prstGeom>
          <a:noFill/>
          <a:ln>
            <a:noFill/>
          </a:ln>
        </p:spPr>
      </p:pic>
      <p:pic>
        <p:nvPicPr>
          <p:cNvPr id="97" name="Google Shape;97;p17"/>
          <p:cNvPicPr preferRelativeResize="0"/>
          <p:nvPr/>
        </p:nvPicPr>
        <p:blipFill>
          <a:blip r:embed="rId12">
            <a:alphaModFix/>
          </a:blip>
          <a:stretch>
            <a:fillRect/>
          </a:stretch>
        </p:blipFill>
        <p:spPr>
          <a:xfrm>
            <a:off x="513725" y="4569874"/>
            <a:ext cx="7086450" cy="555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18"/>
          <p:cNvPicPr preferRelativeResize="0"/>
          <p:nvPr/>
        </p:nvPicPr>
        <p:blipFill>
          <a:blip r:embed="rId3">
            <a:alphaModFix/>
          </a:blip>
          <a:stretch>
            <a:fillRect/>
          </a:stretch>
        </p:blipFill>
        <p:spPr>
          <a:xfrm>
            <a:off x="152400" y="152400"/>
            <a:ext cx="3905250" cy="371475"/>
          </a:xfrm>
          <a:prstGeom prst="rect">
            <a:avLst/>
          </a:prstGeom>
          <a:noFill/>
          <a:ln>
            <a:noFill/>
          </a:ln>
        </p:spPr>
      </p:pic>
      <p:pic>
        <p:nvPicPr>
          <p:cNvPr id="103" name="Google Shape;103;p18"/>
          <p:cNvPicPr preferRelativeResize="0"/>
          <p:nvPr/>
        </p:nvPicPr>
        <p:blipFill>
          <a:blip r:embed="rId4">
            <a:alphaModFix/>
          </a:blip>
          <a:stretch>
            <a:fillRect/>
          </a:stretch>
        </p:blipFill>
        <p:spPr>
          <a:xfrm>
            <a:off x="152400" y="676275"/>
            <a:ext cx="2781300" cy="571500"/>
          </a:xfrm>
          <a:prstGeom prst="rect">
            <a:avLst/>
          </a:prstGeom>
          <a:noFill/>
          <a:ln>
            <a:noFill/>
          </a:ln>
        </p:spPr>
      </p:pic>
      <p:pic>
        <p:nvPicPr>
          <p:cNvPr id="104" name="Google Shape;104;p18"/>
          <p:cNvPicPr preferRelativeResize="0"/>
          <p:nvPr/>
        </p:nvPicPr>
        <p:blipFill>
          <a:blip r:embed="rId5">
            <a:alphaModFix/>
          </a:blip>
          <a:stretch>
            <a:fillRect/>
          </a:stretch>
        </p:blipFill>
        <p:spPr>
          <a:xfrm>
            <a:off x="152400" y="1400175"/>
            <a:ext cx="3009900" cy="657225"/>
          </a:xfrm>
          <a:prstGeom prst="rect">
            <a:avLst/>
          </a:prstGeom>
          <a:noFill/>
          <a:ln>
            <a:noFill/>
          </a:ln>
        </p:spPr>
      </p:pic>
      <p:pic>
        <p:nvPicPr>
          <p:cNvPr id="105" name="Google Shape;105;p18"/>
          <p:cNvPicPr preferRelativeResize="0"/>
          <p:nvPr/>
        </p:nvPicPr>
        <p:blipFill>
          <a:blip r:embed="rId6">
            <a:alphaModFix/>
          </a:blip>
          <a:stretch>
            <a:fillRect/>
          </a:stretch>
        </p:blipFill>
        <p:spPr>
          <a:xfrm>
            <a:off x="152400" y="2209800"/>
            <a:ext cx="5438775" cy="295275"/>
          </a:xfrm>
          <a:prstGeom prst="rect">
            <a:avLst/>
          </a:prstGeom>
          <a:noFill/>
          <a:ln>
            <a:noFill/>
          </a:ln>
        </p:spPr>
      </p:pic>
      <p:pic>
        <p:nvPicPr>
          <p:cNvPr id="106" name="Google Shape;106;p18"/>
          <p:cNvPicPr preferRelativeResize="0"/>
          <p:nvPr/>
        </p:nvPicPr>
        <p:blipFill>
          <a:blip r:embed="rId7">
            <a:alphaModFix/>
          </a:blip>
          <a:stretch>
            <a:fillRect/>
          </a:stretch>
        </p:blipFill>
        <p:spPr>
          <a:xfrm>
            <a:off x="152400" y="2657475"/>
            <a:ext cx="2428875" cy="323850"/>
          </a:xfrm>
          <a:prstGeom prst="rect">
            <a:avLst/>
          </a:prstGeom>
          <a:noFill/>
          <a:ln>
            <a:noFill/>
          </a:ln>
        </p:spPr>
      </p:pic>
      <p:pic>
        <p:nvPicPr>
          <p:cNvPr id="107" name="Google Shape;107;p18"/>
          <p:cNvPicPr preferRelativeResize="0"/>
          <p:nvPr/>
        </p:nvPicPr>
        <p:blipFill>
          <a:blip r:embed="rId8">
            <a:alphaModFix/>
          </a:blip>
          <a:stretch>
            <a:fillRect/>
          </a:stretch>
        </p:blipFill>
        <p:spPr>
          <a:xfrm>
            <a:off x="634125" y="3158137"/>
            <a:ext cx="3654724" cy="917375"/>
          </a:xfrm>
          <a:prstGeom prst="rect">
            <a:avLst/>
          </a:prstGeom>
          <a:noFill/>
          <a:ln>
            <a:noFill/>
          </a:ln>
        </p:spPr>
      </p:pic>
      <p:pic>
        <p:nvPicPr>
          <p:cNvPr id="108" name="Google Shape;108;p18"/>
          <p:cNvPicPr preferRelativeResize="0"/>
          <p:nvPr/>
        </p:nvPicPr>
        <p:blipFill>
          <a:blip r:embed="rId9">
            <a:alphaModFix/>
          </a:blip>
          <a:stretch>
            <a:fillRect/>
          </a:stretch>
        </p:blipFill>
        <p:spPr>
          <a:xfrm>
            <a:off x="133500" y="3668575"/>
            <a:ext cx="900250" cy="174450"/>
          </a:xfrm>
          <a:prstGeom prst="rect">
            <a:avLst/>
          </a:prstGeom>
          <a:noFill/>
          <a:ln>
            <a:noFill/>
          </a:ln>
        </p:spPr>
      </p:pic>
      <p:pic>
        <p:nvPicPr>
          <p:cNvPr id="109" name="Google Shape;109;p18"/>
          <p:cNvPicPr preferRelativeResize="0"/>
          <p:nvPr/>
        </p:nvPicPr>
        <p:blipFill>
          <a:blip r:embed="rId10">
            <a:alphaModFix/>
          </a:blip>
          <a:stretch>
            <a:fillRect/>
          </a:stretch>
        </p:blipFill>
        <p:spPr>
          <a:xfrm>
            <a:off x="489878" y="3843025"/>
            <a:ext cx="187497" cy="323850"/>
          </a:xfrm>
          <a:prstGeom prst="rect">
            <a:avLst/>
          </a:prstGeom>
          <a:noFill/>
          <a:ln>
            <a:noFill/>
          </a:ln>
        </p:spPr>
      </p:pic>
      <p:pic>
        <p:nvPicPr>
          <p:cNvPr id="110" name="Google Shape;110;p18"/>
          <p:cNvPicPr preferRelativeResize="0"/>
          <p:nvPr/>
        </p:nvPicPr>
        <p:blipFill>
          <a:blip r:embed="rId11">
            <a:alphaModFix/>
          </a:blip>
          <a:stretch>
            <a:fillRect/>
          </a:stretch>
        </p:blipFill>
        <p:spPr>
          <a:xfrm>
            <a:off x="152388" y="4190988"/>
            <a:ext cx="8353425" cy="942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nvSpPr>
        <p:spPr>
          <a:xfrm>
            <a:off x="754600" y="296900"/>
            <a:ext cx="3315300" cy="46332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AutoNum type="arabicParenR"/>
            </a:pPr>
            <a:r>
              <a:rPr lang="fr" sz="1700"/>
              <a:t>Calcul de l’erreur (pour chaque arête)</a:t>
            </a:r>
            <a:endParaRPr sz="1700"/>
          </a:p>
          <a:p>
            <a:pPr indent="0" lvl="0" marL="0" rtl="0" algn="l">
              <a:spcBef>
                <a:spcPts val="0"/>
              </a:spcBef>
              <a:spcAft>
                <a:spcPts val="0"/>
              </a:spcAft>
              <a:buNone/>
            </a:pPr>
            <a:r>
              <a:t/>
            </a:r>
            <a:endParaRPr sz="1700"/>
          </a:p>
          <a:p>
            <a:pPr indent="-336550" lvl="0" marL="457200" rtl="0" algn="l">
              <a:spcBef>
                <a:spcPts val="0"/>
              </a:spcBef>
              <a:spcAft>
                <a:spcPts val="0"/>
              </a:spcAft>
              <a:buSzPts val="1700"/>
              <a:buAutoNum type="arabicParenR"/>
            </a:pPr>
            <a:r>
              <a:rPr lang="fr" sz="1700"/>
              <a:t>Tri des </a:t>
            </a:r>
            <a:r>
              <a:rPr lang="fr" sz="1700"/>
              <a:t>arêtes</a:t>
            </a:r>
            <a:r>
              <a:rPr lang="fr" sz="1700"/>
              <a:t> en minimum de coût d'erreur</a:t>
            </a:r>
            <a:endParaRPr sz="1700"/>
          </a:p>
          <a:p>
            <a:pPr indent="0" lvl="0" marL="0" rtl="0" algn="l">
              <a:spcBef>
                <a:spcPts val="0"/>
              </a:spcBef>
              <a:spcAft>
                <a:spcPts val="0"/>
              </a:spcAft>
              <a:buNone/>
            </a:pPr>
            <a:r>
              <a:t/>
            </a:r>
            <a:endParaRPr sz="1700"/>
          </a:p>
          <a:p>
            <a:pPr indent="-336550" lvl="0" marL="457200" rtl="0" algn="l">
              <a:spcBef>
                <a:spcPts val="0"/>
              </a:spcBef>
              <a:spcAft>
                <a:spcPts val="0"/>
              </a:spcAft>
              <a:buSzPts val="1700"/>
              <a:buAutoNum type="arabicParenR"/>
            </a:pPr>
            <a:r>
              <a:rPr lang="fr" sz="1700"/>
              <a:t>Fusion des deux sommets</a:t>
            </a:r>
            <a:endParaRPr sz="1700"/>
          </a:p>
          <a:p>
            <a:pPr indent="0" lvl="0" marL="457200" rtl="0" algn="l">
              <a:spcBef>
                <a:spcPts val="0"/>
              </a:spcBef>
              <a:spcAft>
                <a:spcPts val="0"/>
              </a:spcAft>
              <a:buNone/>
            </a:pPr>
            <a:r>
              <a:t/>
            </a:r>
            <a:endParaRPr sz="1700"/>
          </a:p>
          <a:p>
            <a:pPr indent="0" lvl="0" marL="457200" rtl="0" algn="l">
              <a:spcBef>
                <a:spcPts val="0"/>
              </a:spcBef>
              <a:spcAft>
                <a:spcPts val="0"/>
              </a:spcAft>
              <a:buNone/>
            </a:pPr>
            <a:r>
              <a:t/>
            </a:r>
            <a:endParaRPr sz="1700"/>
          </a:p>
          <a:p>
            <a:pPr indent="0" lvl="0" marL="457200" rtl="0" algn="l">
              <a:spcBef>
                <a:spcPts val="0"/>
              </a:spcBef>
              <a:spcAft>
                <a:spcPts val="0"/>
              </a:spcAft>
              <a:buNone/>
            </a:pPr>
            <a:r>
              <a:t/>
            </a:r>
            <a:endParaRPr sz="1700"/>
          </a:p>
          <a:p>
            <a:pPr indent="0" lvl="0" marL="457200" rtl="0" algn="l">
              <a:spcBef>
                <a:spcPts val="0"/>
              </a:spcBef>
              <a:spcAft>
                <a:spcPts val="0"/>
              </a:spcAft>
              <a:buNone/>
            </a:pPr>
            <a:r>
              <a:t/>
            </a:r>
            <a:endParaRPr sz="1700"/>
          </a:p>
          <a:p>
            <a:pPr indent="0" lvl="0" marL="457200" rtl="0" algn="l">
              <a:spcBef>
                <a:spcPts val="0"/>
              </a:spcBef>
              <a:spcAft>
                <a:spcPts val="0"/>
              </a:spcAft>
              <a:buNone/>
            </a:pPr>
            <a:r>
              <a:t/>
            </a:r>
            <a:endParaRPr sz="1700"/>
          </a:p>
          <a:p>
            <a:pPr indent="0" lvl="0" marL="457200" rtl="0" algn="l">
              <a:spcBef>
                <a:spcPts val="0"/>
              </a:spcBef>
              <a:spcAft>
                <a:spcPts val="0"/>
              </a:spcAft>
              <a:buNone/>
            </a:pPr>
            <a:r>
              <a:t/>
            </a:r>
            <a:endParaRPr sz="1700"/>
          </a:p>
          <a:p>
            <a:pPr indent="0" lvl="0" marL="457200" rtl="0" algn="l">
              <a:spcBef>
                <a:spcPts val="0"/>
              </a:spcBef>
              <a:spcAft>
                <a:spcPts val="0"/>
              </a:spcAft>
              <a:buNone/>
            </a:pPr>
            <a:r>
              <a:t/>
            </a:r>
            <a:endParaRPr sz="1700"/>
          </a:p>
          <a:p>
            <a:pPr indent="-336550" lvl="0" marL="457200" rtl="0" algn="l">
              <a:spcBef>
                <a:spcPts val="0"/>
              </a:spcBef>
              <a:spcAft>
                <a:spcPts val="0"/>
              </a:spcAft>
              <a:buSzPts val="1700"/>
              <a:buAutoNum type="arabicParenR"/>
            </a:pPr>
            <a:r>
              <a:rPr lang="fr" sz="1700"/>
              <a:t>Itération lorsqu’on </a:t>
            </a:r>
            <a:r>
              <a:rPr lang="fr" sz="1700"/>
              <a:t>atteint</a:t>
            </a:r>
            <a:r>
              <a:rPr lang="fr" sz="1700"/>
              <a:t> le nombre de sommets souhaité ou </a:t>
            </a:r>
            <a:r>
              <a:rPr lang="fr" sz="1700"/>
              <a:t>prédéterminé</a:t>
            </a:r>
            <a:endParaRPr sz="1700"/>
          </a:p>
        </p:txBody>
      </p:sp>
      <p:pic>
        <p:nvPicPr>
          <p:cNvPr id="116" name="Google Shape;116;p19"/>
          <p:cNvPicPr preferRelativeResize="0"/>
          <p:nvPr/>
        </p:nvPicPr>
        <p:blipFill>
          <a:blip r:embed="rId3">
            <a:alphaModFix/>
          </a:blip>
          <a:stretch>
            <a:fillRect/>
          </a:stretch>
        </p:blipFill>
        <p:spPr>
          <a:xfrm>
            <a:off x="5632463" y="502725"/>
            <a:ext cx="2457450" cy="581025"/>
          </a:xfrm>
          <a:prstGeom prst="rect">
            <a:avLst/>
          </a:prstGeom>
          <a:noFill/>
          <a:ln>
            <a:noFill/>
          </a:ln>
        </p:spPr>
      </p:pic>
      <p:pic>
        <p:nvPicPr>
          <p:cNvPr id="117" name="Google Shape;117;p19"/>
          <p:cNvPicPr preferRelativeResize="0"/>
          <p:nvPr/>
        </p:nvPicPr>
        <p:blipFill>
          <a:blip r:embed="rId4">
            <a:alphaModFix/>
          </a:blip>
          <a:stretch>
            <a:fillRect/>
          </a:stretch>
        </p:blipFill>
        <p:spPr>
          <a:xfrm>
            <a:off x="4469700" y="131250"/>
            <a:ext cx="3448050" cy="371475"/>
          </a:xfrm>
          <a:prstGeom prst="rect">
            <a:avLst/>
          </a:prstGeom>
          <a:noFill/>
          <a:ln>
            <a:noFill/>
          </a:ln>
        </p:spPr>
      </p:pic>
      <p:pic>
        <p:nvPicPr>
          <p:cNvPr id="118" name="Google Shape;118;p19"/>
          <p:cNvPicPr preferRelativeResize="0"/>
          <p:nvPr/>
        </p:nvPicPr>
        <p:blipFill>
          <a:blip r:embed="rId5">
            <a:alphaModFix/>
          </a:blip>
          <a:stretch>
            <a:fillRect/>
          </a:stretch>
        </p:blipFill>
        <p:spPr>
          <a:xfrm>
            <a:off x="4345875" y="956100"/>
            <a:ext cx="4548720" cy="419750"/>
          </a:xfrm>
          <a:prstGeom prst="rect">
            <a:avLst/>
          </a:prstGeom>
          <a:noFill/>
          <a:ln>
            <a:noFill/>
          </a:ln>
        </p:spPr>
      </p:pic>
      <p:cxnSp>
        <p:nvCxnSpPr>
          <p:cNvPr id="119" name="Google Shape;119;p19"/>
          <p:cNvCxnSpPr/>
          <p:nvPr/>
        </p:nvCxnSpPr>
        <p:spPr>
          <a:xfrm flipH="1">
            <a:off x="4082225" y="165750"/>
            <a:ext cx="12300" cy="4774800"/>
          </a:xfrm>
          <a:prstGeom prst="straightConnector1">
            <a:avLst/>
          </a:prstGeom>
          <a:noFill/>
          <a:ln cap="flat" cmpd="sng" w="9525">
            <a:solidFill>
              <a:schemeClr val="dk2"/>
            </a:solidFill>
            <a:prstDash val="solid"/>
            <a:round/>
            <a:headEnd len="med" w="med" type="none"/>
            <a:tailEnd len="med" w="med" type="none"/>
          </a:ln>
        </p:spPr>
      </p:cxnSp>
      <p:cxnSp>
        <p:nvCxnSpPr>
          <p:cNvPr id="120" name="Google Shape;120;p19"/>
          <p:cNvCxnSpPr/>
          <p:nvPr/>
        </p:nvCxnSpPr>
        <p:spPr>
          <a:xfrm flipH="1">
            <a:off x="4214050" y="296900"/>
            <a:ext cx="12300" cy="4774800"/>
          </a:xfrm>
          <a:prstGeom prst="straightConnector1">
            <a:avLst/>
          </a:prstGeom>
          <a:noFill/>
          <a:ln cap="flat" cmpd="sng" w="9525">
            <a:solidFill>
              <a:schemeClr val="dk2"/>
            </a:solidFill>
            <a:prstDash val="solid"/>
            <a:round/>
            <a:headEnd len="med" w="med" type="none"/>
            <a:tailEnd len="med" w="med" type="none"/>
          </a:ln>
        </p:spPr>
      </p:cxnSp>
      <p:pic>
        <p:nvPicPr>
          <p:cNvPr id="121" name="Google Shape;121;p19"/>
          <p:cNvPicPr preferRelativeResize="0"/>
          <p:nvPr/>
        </p:nvPicPr>
        <p:blipFill>
          <a:blip r:embed="rId6">
            <a:alphaModFix/>
          </a:blip>
          <a:stretch>
            <a:fillRect/>
          </a:stretch>
        </p:blipFill>
        <p:spPr>
          <a:xfrm>
            <a:off x="5361000" y="1245025"/>
            <a:ext cx="3000375" cy="1428750"/>
          </a:xfrm>
          <a:prstGeom prst="rect">
            <a:avLst/>
          </a:prstGeom>
          <a:noFill/>
          <a:ln>
            <a:noFill/>
          </a:ln>
        </p:spPr>
      </p:pic>
      <p:pic>
        <p:nvPicPr>
          <p:cNvPr id="122" name="Google Shape;122;p19"/>
          <p:cNvPicPr preferRelativeResize="0"/>
          <p:nvPr/>
        </p:nvPicPr>
        <p:blipFill>
          <a:blip r:embed="rId7">
            <a:alphaModFix/>
          </a:blip>
          <a:stretch>
            <a:fillRect/>
          </a:stretch>
        </p:blipFill>
        <p:spPr>
          <a:xfrm>
            <a:off x="4571995" y="1494300"/>
            <a:ext cx="1246505" cy="371475"/>
          </a:xfrm>
          <a:prstGeom prst="rect">
            <a:avLst/>
          </a:prstGeom>
          <a:noFill/>
          <a:ln>
            <a:noFill/>
          </a:ln>
        </p:spPr>
      </p:pic>
      <p:pic>
        <p:nvPicPr>
          <p:cNvPr id="123" name="Google Shape;123;p19"/>
          <p:cNvPicPr preferRelativeResize="0"/>
          <p:nvPr/>
        </p:nvPicPr>
        <p:blipFill>
          <a:blip r:embed="rId8">
            <a:alphaModFix/>
          </a:blip>
          <a:stretch>
            <a:fillRect/>
          </a:stretch>
        </p:blipFill>
        <p:spPr>
          <a:xfrm>
            <a:off x="6589025" y="2511200"/>
            <a:ext cx="1552575" cy="904875"/>
          </a:xfrm>
          <a:prstGeom prst="rect">
            <a:avLst/>
          </a:prstGeom>
          <a:noFill/>
          <a:ln>
            <a:noFill/>
          </a:ln>
        </p:spPr>
      </p:pic>
      <p:pic>
        <p:nvPicPr>
          <p:cNvPr id="124" name="Google Shape;124;p19"/>
          <p:cNvPicPr preferRelativeResize="0"/>
          <p:nvPr/>
        </p:nvPicPr>
        <p:blipFill>
          <a:blip r:embed="rId9">
            <a:alphaModFix/>
          </a:blip>
          <a:stretch>
            <a:fillRect/>
          </a:stretch>
        </p:blipFill>
        <p:spPr>
          <a:xfrm>
            <a:off x="4293488" y="2617000"/>
            <a:ext cx="2295525" cy="247650"/>
          </a:xfrm>
          <a:prstGeom prst="rect">
            <a:avLst/>
          </a:prstGeom>
          <a:noFill/>
          <a:ln>
            <a:noFill/>
          </a:ln>
        </p:spPr>
      </p:pic>
      <p:pic>
        <p:nvPicPr>
          <p:cNvPr id="125" name="Google Shape;125;p19"/>
          <p:cNvPicPr preferRelativeResize="0"/>
          <p:nvPr/>
        </p:nvPicPr>
        <p:blipFill>
          <a:blip r:embed="rId10">
            <a:alphaModFix/>
          </a:blip>
          <a:stretch>
            <a:fillRect/>
          </a:stretch>
        </p:blipFill>
        <p:spPr>
          <a:xfrm>
            <a:off x="4345875" y="3892325"/>
            <a:ext cx="1943100" cy="581025"/>
          </a:xfrm>
          <a:prstGeom prst="rect">
            <a:avLst/>
          </a:prstGeom>
          <a:noFill/>
          <a:ln>
            <a:noFill/>
          </a:ln>
        </p:spPr>
      </p:pic>
      <p:pic>
        <p:nvPicPr>
          <p:cNvPr id="126" name="Google Shape;126;p19"/>
          <p:cNvPicPr preferRelativeResize="0"/>
          <p:nvPr/>
        </p:nvPicPr>
        <p:blipFill>
          <a:blip r:embed="rId11">
            <a:alphaModFix/>
          </a:blip>
          <a:stretch>
            <a:fillRect/>
          </a:stretch>
        </p:blipFill>
        <p:spPr>
          <a:xfrm>
            <a:off x="4523575" y="4376375"/>
            <a:ext cx="4200525" cy="323850"/>
          </a:xfrm>
          <a:prstGeom prst="rect">
            <a:avLst/>
          </a:prstGeom>
          <a:noFill/>
          <a:ln>
            <a:noFill/>
          </a:ln>
        </p:spPr>
      </p:pic>
      <p:pic>
        <p:nvPicPr>
          <p:cNvPr id="127" name="Google Shape;127;p19"/>
          <p:cNvPicPr preferRelativeResize="0"/>
          <p:nvPr/>
        </p:nvPicPr>
        <p:blipFill>
          <a:blip r:embed="rId12">
            <a:alphaModFix/>
          </a:blip>
          <a:stretch>
            <a:fillRect/>
          </a:stretch>
        </p:blipFill>
        <p:spPr>
          <a:xfrm>
            <a:off x="4523575" y="4700225"/>
            <a:ext cx="2962275" cy="371475"/>
          </a:xfrm>
          <a:prstGeom prst="rect">
            <a:avLst/>
          </a:prstGeom>
          <a:noFill/>
          <a:ln>
            <a:noFill/>
          </a:ln>
        </p:spPr>
      </p:pic>
      <p:pic>
        <p:nvPicPr>
          <p:cNvPr id="128" name="Google Shape;128;p19"/>
          <p:cNvPicPr preferRelativeResize="0"/>
          <p:nvPr/>
        </p:nvPicPr>
        <p:blipFill>
          <a:blip r:embed="rId13">
            <a:alphaModFix/>
          </a:blip>
          <a:stretch>
            <a:fillRect/>
          </a:stretch>
        </p:blipFill>
        <p:spPr>
          <a:xfrm>
            <a:off x="6354625" y="4020925"/>
            <a:ext cx="2743721" cy="323850"/>
          </a:xfrm>
          <a:prstGeom prst="rect">
            <a:avLst/>
          </a:prstGeom>
          <a:noFill/>
          <a:ln>
            <a:noFill/>
          </a:ln>
        </p:spPr>
      </p:pic>
      <p:pic>
        <p:nvPicPr>
          <p:cNvPr id="129" name="Google Shape;129;p19"/>
          <p:cNvPicPr preferRelativeResize="0"/>
          <p:nvPr/>
        </p:nvPicPr>
        <p:blipFill>
          <a:blip r:embed="rId14">
            <a:alphaModFix/>
          </a:blip>
          <a:stretch>
            <a:fillRect/>
          </a:stretch>
        </p:blipFill>
        <p:spPr>
          <a:xfrm>
            <a:off x="4345875" y="3216562"/>
            <a:ext cx="3859985" cy="323850"/>
          </a:xfrm>
          <a:prstGeom prst="rect">
            <a:avLst/>
          </a:prstGeom>
          <a:noFill/>
          <a:ln>
            <a:noFill/>
          </a:ln>
        </p:spPr>
      </p:pic>
      <p:pic>
        <p:nvPicPr>
          <p:cNvPr id="130" name="Google Shape;130;p19"/>
          <p:cNvPicPr preferRelativeResize="0"/>
          <p:nvPr/>
        </p:nvPicPr>
        <p:blipFill>
          <a:blip r:embed="rId15">
            <a:alphaModFix/>
          </a:blip>
          <a:stretch>
            <a:fillRect/>
          </a:stretch>
        </p:blipFill>
        <p:spPr>
          <a:xfrm>
            <a:off x="6059950" y="3656838"/>
            <a:ext cx="2610702" cy="247650"/>
          </a:xfrm>
          <a:prstGeom prst="rect">
            <a:avLst/>
          </a:prstGeom>
          <a:noFill/>
          <a:ln>
            <a:noFill/>
          </a:ln>
        </p:spPr>
      </p:pic>
      <p:pic>
        <p:nvPicPr>
          <p:cNvPr id="131" name="Google Shape;131;p19"/>
          <p:cNvPicPr preferRelativeResize="0"/>
          <p:nvPr/>
        </p:nvPicPr>
        <p:blipFill>
          <a:blip r:embed="rId16">
            <a:alphaModFix/>
          </a:blip>
          <a:stretch>
            <a:fillRect/>
          </a:stretch>
        </p:blipFill>
        <p:spPr>
          <a:xfrm>
            <a:off x="4328475" y="3553838"/>
            <a:ext cx="1733550" cy="457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p:nvPr/>
        </p:nvSpPr>
        <p:spPr>
          <a:xfrm>
            <a:off x="4094516" y="3228665"/>
            <a:ext cx="467600" cy="1908325"/>
          </a:xfrm>
          <a:custGeom>
            <a:rect b="b" l="l" r="r" t="t"/>
            <a:pathLst>
              <a:path extrusionOk="0" h="76333" w="18704">
                <a:moveTo>
                  <a:pt x="8808" y="133"/>
                </a:moveTo>
                <a:cubicBezTo>
                  <a:pt x="6285" y="133"/>
                  <a:pt x="2900" y="-401"/>
                  <a:pt x="1386" y="1618"/>
                </a:cubicBezTo>
                <a:cubicBezTo>
                  <a:pt x="-1991" y="6122"/>
                  <a:pt x="2073" y="12868"/>
                  <a:pt x="2870" y="18441"/>
                </a:cubicBezTo>
                <a:cubicBezTo>
                  <a:pt x="4095" y="27008"/>
                  <a:pt x="5109" y="35604"/>
                  <a:pt x="6334" y="44171"/>
                </a:cubicBezTo>
                <a:cubicBezTo>
                  <a:pt x="6595" y="45996"/>
                  <a:pt x="2920" y="47668"/>
                  <a:pt x="1386" y="46645"/>
                </a:cubicBezTo>
                <a:cubicBezTo>
                  <a:pt x="551" y="46088"/>
                  <a:pt x="-112" y="43676"/>
                  <a:pt x="891" y="43676"/>
                </a:cubicBezTo>
                <a:cubicBezTo>
                  <a:pt x="9895" y="43676"/>
                  <a:pt x="821" y="62344"/>
                  <a:pt x="4849" y="70396"/>
                </a:cubicBezTo>
                <a:cubicBezTo>
                  <a:pt x="7097" y="74890"/>
                  <a:pt x="13680" y="76333"/>
                  <a:pt x="18704" y="76333"/>
                </a:cubicBezTo>
              </a:path>
            </a:pathLst>
          </a:custGeom>
          <a:noFill/>
          <a:ln cap="flat" cmpd="sng" w="9525">
            <a:solidFill>
              <a:schemeClr val="dk2"/>
            </a:solidFill>
            <a:prstDash val="solid"/>
            <a:round/>
            <a:headEnd len="med" w="med" type="none"/>
            <a:tailEnd len="med" w="med" type="none"/>
          </a:ln>
        </p:spPr>
      </p:sp>
      <p:cxnSp>
        <p:nvCxnSpPr>
          <p:cNvPr id="137" name="Google Shape;137;p20"/>
          <p:cNvCxnSpPr/>
          <p:nvPr/>
        </p:nvCxnSpPr>
        <p:spPr>
          <a:xfrm rot="10800000">
            <a:off x="2662025" y="2379850"/>
            <a:ext cx="1383000" cy="1558800"/>
          </a:xfrm>
          <a:prstGeom prst="straightConnector1">
            <a:avLst/>
          </a:prstGeom>
          <a:noFill/>
          <a:ln cap="flat" cmpd="sng" w="9525">
            <a:solidFill>
              <a:schemeClr val="dk2"/>
            </a:solidFill>
            <a:prstDash val="solid"/>
            <a:round/>
            <a:headEnd len="med" w="med" type="none"/>
            <a:tailEnd len="med" w="med" type="none"/>
          </a:ln>
        </p:spPr>
      </p:cxnSp>
      <p:sp>
        <p:nvSpPr>
          <p:cNvPr id="138" name="Google Shape;138;p20"/>
          <p:cNvSpPr txBox="1"/>
          <p:nvPr/>
        </p:nvSpPr>
        <p:spPr>
          <a:xfrm>
            <a:off x="754600" y="296900"/>
            <a:ext cx="3315300" cy="46332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AutoNum type="arabicParenR"/>
            </a:pPr>
            <a:r>
              <a:rPr lang="fr" sz="1700"/>
              <a:t>Calcul de l’erreur (pour chaque arête)</a:t>
            </a:r>
            <a:endParaRPr sz="1700"/>
          </a:p>
          <a:p>
            <a:pPr indent="0" lvl="0" marL="0" rtl="0" algn="l">
              <a:spcBef>
                <a:spcPts val="0"/>
              </a:spcBef>
              <a:spcAft>
                <a:spcPts val="0"/>
              </a:spcAft>
              <a:buNone/>
            </a:pPr>
            <a:r>
              <a:t/>
            </a:r>
            <a:endParaRPr sz="1700"/>
          </a:p>
          <a:p>
            <a:pPr indent="-336550" lvl="0" marL="457200" rtl="0" algn="l">
              <a:spcBef>
                <a:spcPts val="0"/>
              </a:spcBef>
              <a:spcAft>
                <a:spcPts val="0"/>
              </a:spcAft>
              <a:buSzPts val="1700"/>
              <a:buAutoNum type="arabicParenR"/>
            </a:pPr>
            <a:r>
              <a:rPr lang="fr" sz="1700"/>
              <a:t>Tri des arêtes en minimum de coût d'erreur</a:t>
            </a:r>
            <a:endParaRPr sz="1700"/>
          </a:p>
          <a:p>
            <a:pPr indent="0" lvl="0" marL="0" rtl="0" algn="l">
              <a:spcBef>
                <a:spcPts val="0"/>
              </a:spcBef>
              <a:spcAft>
                <a:spcPts val="0"/>
              </a:spcAft>
              <a:buNone/>
            </a:pPr>
            <a:r>
              <a:t/>
            </a:r>
            <a:endParaRPr sz="1700"/>
          </a:p>
          <a:p>
            <a:pPr indent="-336550" lvl="0" marL="457200" rtl="0" algn="l">
              <a:spcBef>
                <a:spcPts val="0"/>
              </a:spcBef>
              <a:spcAft>
                <a:spcPts val="0"/>
              </a:spcAft>
              <a:buSzPts val="1700"/>
              <a:buAutoNum type="arabicParenR"/>
            </a:pPr>
            <a:r>
              <a:rPr lang="fr" sz="1700"/>
              <a:t>Fusion des deux sommets</a:t>
            </a:r>
            <a:endParaRPr sz="1700"/>
          </a:p>
          <a:p>
            <a:pPr indent="0" lvl="0" marL="457200" rtl="0" algn="l">
              <a:spcBef>
                <a:spcPts val="0"/>
              </a:spcBef>
              <a:spcAft>
                <a:spcPts val="0"/>
              </a:spcAft>
              <a:buNone/>
            </a:pPr>
            <a:r>
              <a:t/>
            </a:r>
            <a:endParaRPr sz="1700"/>
          </a:p>
          <a:p>
            <a:pPr indent="0" lvl="0" marL="457200" rtl="0" algn="l">
              <a:spcBef>
                <a:spcPts val="0"/>
              </a:spcBef>
              <a:spcAft>
                <a:spcPts val="0"/>
              </a:spcAft>
              <a:buNone/>
            </a:pPr>
            <a:r>
              <a:t/>
            </a:r>
            <a:endParaRPr sz="1700"/>
          </a:p>
          <a:p>
            <a:pPr indent="0" lvl="0" marL="457200" rtl="0" algn="l">
              <a:spcBef>
                <a:spcPts val="0"/>
              </a:spcBef>
              <a:spcAft>
                <a:spcPts val="0"/>
              </a:spcAft>
              <a:buNone/>
            </a:pPr>
            <a:r>
              <a:t/>
            </a:r>
            <a:endParaRPr sz="1700"/>
          </a:p>
          <a:p>
            <a:pPr indent="0" lvl="0" marL="457200" rtl="0" algn="l">
              <a:spcBef>
                <a:spcPts val="0"/>
              </a:spcBef>
              <a:spcAft>
                <a:spcPts val="0"/>
              </a:spcAft>
              <a:buNone/>
            </a:pPr>
            <a:r>
              <a:t/>
            </a:r>
            <a:endParaRPr sz="1700"/>
          </a:p>
          <a:p>
            <a:pPr indent="0" lvl="0" marL="457200" rtl="0" algn="l">
              <a:spcBef>
                <a:spcPts val="0"/>
              </a:spcBef>
              <a:spcAft>
                <a:spcPts val="0"/>
              </a:spcAft>
              <a:buNone/>
            </a:pPr>
            <a:r>
              <a:t/>
            </a:r>
            <a:endParaRPr sz="1700"/>
          </a:p>
          <a:p>
            <a:pPr indent="0" lvl="0" marL="457200" rtl="0" algn="l">
              <a:spcBef>
                <a:spcPts val="0"/>
              </a:spcBef>
              <a:spcAft>
                <a:spcPts val="0"/>
              </a:spcAft>
              <a:buNone/>
            </a:pPr>
            <a:r>
              <a:t/>
            </a:r>
            <a:endParaRPr sz="1700"/>
          </a:p>
          <a:p>
            <a:pPr indent="0" lvl="0" marL="457200" rtl="0" algn="l">
              <a:spcBef>
                <a:spcPts val="0"/>
              </a:spcBef>
              <a:spcAft>
                <a:spcPts val="0"/>
              </a:spcAft>
              <a:buNone/>
            </a:pPr>
            <a:r>
              <a:t/>
            </a:r>
            <a:endParaRPr sz="1700"/>
          </a:p>
          <a:p>
            <a:pPr indent="-336550" lvl="0" marL="457200" rtl="0" algn="l">
              <a:spcBef>
                <a:spcPts val="0"/>
              </a:spcBef>
              <a:spcAft>
                <a:spcPts val="0"/>
              </a:spcAft>
              <a:buSzPts val="1700"/>
              <a:buAutoNum type="arabicParenR"/>
            </a:pPr>
            <a:r>
              <a:rPr lang="fr" sz="1700"/>
              <a:t>Itération lorsqu’on </a:t>
            </a:r>
            <a:r>
              <a:rPr lang="fr" sz="1700"/>
              <a:t>atteint</a:t>
            </a:r>
            <a:r>
              <a:rPr lang="fr" sz="1700"/>
              <a:t> le nombre de sommets souhaité ou </a:t>
            </a:r>
            <a:r>
              <a:rPr lang="fr" sz="1700"/>
              <a:t>prédéterminé</a:t>
            </a:r>
            <a:endParaRPr sz="1700"/>
          </a:p>
        </p:txBody>
      </p:sp>
      <p:pic>
        <p:nvPicPr>
          <p:cNvPr id="139" name="Google Shape;139;p20"/>
          <p:cNvPicPr preferRelativeResize="0"/>
          <p:nvPr/>
        </p:nvPicPr>
        <p:blipFill>
          <a:blip r:embed="rId3">
            <a:alphaModFix/>
          </a:blip>
          <a:stretch>
            <a:fillRect/>
          </a:stretch>
        </p:blipFill>
        <p:spPr>
          <a:xfrm>
            <a:off x="5632463" y="502725"/>
            <a:ext cx="2457450" cy="581025"/>
          </a:xfrm>
          <a:prstGeom prst="rect">
            <a:avLst/>
          </a:prstGeom>
          <a:noFill/>
          <a:ln>
            <a:noFill/>
          </a:ln>
        </p:spPr>
      </p:pic>
      <p:pic>
        <p:nvPicPr>
          <p:cNvPr id="140" name="Google Shape;140;p20"/>
          <p:cNvPicPr preferRelativeResize="0"/>
          <p:nvPr/>
        </p:nvPicPr>
        <p:blipFill>
          <a:blip r:embed="rId4">
            <a:alphaModFix/>
          </a:blip>
          <a:stretch>
            <a:fillRect/>
          </a:stretch>
        </p:blipFill>
        <p:spPr>
          <a:xfrm>
            <a:off x="4469700" y="131250"/>
            <a:ext cx="3448050" cy="371475"/>
          </a:xfrm>
          <a:prstGeom prst="rect">
            <a:avLst/>
          </a:prstGeom>
          <a:noFill/>
          <a:ln>
            <a:noFill/>
          </a:ln>
        </p:spPr>
      </p:pic>
      <p:pic>
        <p:nvPicPr>
          <p:cNvPr id="141" name="Google Shape;141;p20"/>
          <p:cNvPicPr preferRelativeResize="0"/>
          <p:nvPr/>
        </p:nvPicPr>
        <p:blipFill>
          <a:blip r:embed="rId5">
            <a:alphaModFix/>
          </a:blip>
          <a:stretch>
            <a:fillRect/>
          </a:stretch>
        </p:blipFill>
        <p:spPr>
          <a:xfrm>
            <a:off x="4345875" y="956100"/>
            <a:ext cx="4548720" cy="419750"/>
          </a:xfrm>
          <a:prstGeom prst="rect">
            <a:avLst/>
          </a:prstGeom>
          <a:noFill/>
          <a:ln>
            <a:noFill/>
          </a:ln>
        </p:spPr>
      </p:pic>
      <p:cxnSp>
        <p:nvCxnSpPr>
          <p:cNvPr id="142" name="Google Shape;142;p20"/>
          <p:cNvCxnSpPr/>
          <p:nvPr/>
        </p:nvCxnSpPr>
        <p:spPr>
          <a:xfrm flipH="1">
            <a:off x="4082225" y="165750"/>
            <a:ext cx="12300" cy="4774800"/>
          </a:xfrm>
          <a:prstGeom prst="straightConnector1">
            <a:avLst/>
          </a:prstGeom>
          <a:noFill/>
          <a:ln cap="flat" cmpd="sng" w="9525">
            <a:solidFill>
              <a:schemeClr val="dk2"/>
            </a:solidFill>
            <a:prstDash val="solid"/>
            <a:round/>
            <a:headEnd len="med" w="med" type="none"/>
            <a:tailEnd len="med" w="med" type="none"/>
          </a:ln>
        </p:spPr>
      </p:cxnSp>
      <p:cxnSp>
        <p:nvCxnSpPr>
          <p:cNvPr id="143" name="Google Shape;143;p20"/>
          <p:cNvCxnSpPr/>
          <p:nvPr/>
        </p:nvCxnSpPr>
        <p:spPr>
          <a:xfrm flipH="1">
            <a:off x="4214050" y="296900"/>
            <a:ext cx="12300" cy="4774800"/>
          </a:xfrm>
          <a:prstGeom prst="straightConnector1">
            <a:avLst/>
          </a:prstGeom>
          <a:noFill/>
          <a:ln cap="flat" cmpd="sng" w="9525">
            <a:solidFill>
              <a:schemeClr val="dk2"/>
            </a:solidFill>
            <a:prstDash val="solid"/>
            <a:round/>
            <a:headEnd len="med" w="med" type="none"/>
            <a:tailEnd len="med" w="med" type="none"/>
          </a:ln>
        </p:spPr>
      </p:cxnSp>
      <p:pic>
        <p:nvPicPr>
          <p:cNvPr id="144" name="Google Shape;144;p20"/>
          <p:cNvPicPr preferRelativeResize="0"/>
          <p:nvPr/>
        </p:nvPicPr>
        <p:blipFill>
          <a:blip r:embed="rId6">
            <a:alphaModFix/>
          </a:blip>
          <a:stretch>
            <a:fillRect/>
          </a:stretch>
        </p:blipFill>
        <p:spPr>
          <a:xfrm>
            <a:off x="5361000" y="1245025"/>
            <a:ext cx="3000375" cy="1428750"/>
          </a:xfrm>
          <a:prstGeom prst="rect">
            <a:avLst/>
          </a:prstGeom>
          <a:noFill/>
          <a:ln>
            <a:noFill/>
          </a:ln>
        </p:spPr>
      </p:pic>
      <p:pic>
        <p:nvPicPr>
          <p:cNvPr id="145" name="Google Shape;145;p20"/>
          <p:cNvPicPr preferRelativeResize="0"/>
          <p:nvPr/>
        </p:nvPicPr>
        <p:blipFill>
          <a:blip r:embed="rId7">
            <a:alphaModFix/>
          </a:blip>
          <a:stretch>
            <a:fillRect/>
          </a:stretch>
        </p:blipFill>
        <p:spPr>
          <a:xfrm>
            <a:off x="4571995" y="1494300"/>
            <a:ext cx="1246505" cy="371475"/>
          </a:xfrm>
          <a:prstGeom prst="rect">
            <a:avLst/>
          </a:prstGeom>
          <a:noFill/>
          <a:ln>
            <a:noFill/>
          </a:ln>
        </p:spPr>
      </p:pic>
      <p:pic>
        <p:nvPicPr>
          <p:cNvPr id="146" name="Google Shape;146;p20"/>
          <p:cNvPicPr preferRelativeResize="0"/>
          <p:nvPr/>
        </p:nvPicPr>
        <p:blipFill>
          <a:blip r:embed="rId8">
            <a:alphaModFix/>
          </a:blip>
          <a:stretch>
            <a:fillRect/>
          </a:stretch>
        </p:blipFill>
        <p:spPr>
          <a:xfrm>
            <a:off x="6589025" y="2511200"/>
            <a:ext cx="1552575" cy="904875"/>
          </a:xfrm>
          <a:prstGeom prst="rect">
            <a:avLst/>
          </a:prstGeom>
          <a:noFill/>
          <a:ln>
            <a:noFill/>
          </a:ln>
        </p:spPr>
      </p:pic>
      <p:pic>
        <p:nvPicPr>
          <p:cNvPr id="147" name="Google Shape;147;p20"/>
          <p:cNvPicPr preferRelativeResize="0"/>
          <p:nvPr/>
        </p:nvPicPr>
        <p:blipFill>
          <a:blip r:embed="rId9">
            <a:alphaModFix/>
          </a:blip>
          <a:stretch>
            <a:fillRect/>
          </a:stretch>
        </p:blipFill>
        <p:spPr>
          <a:xfrm>
            <a:off x="4293488" y="2617000"/>
            <a:ext cx="2295525" cy="247650"/>
          </a:xfrm>
          <a:prstGeom prst="rect">
            <a:avLst/>
          </a:prstGeom>
          <a:noFill/>
          <a:ln>
            <a:noFill/>
          </a:ln>
        </p:spPr>
      </p:pic>
      <p:pic>
        <p:nvPicPr>
          <p:cNvPr id="148" name="Google Shape;148;p20"/>
          <p:cNvPicPr preferRelativeResize="0"/>
          <p:nvPr/>
        </p:nvPicPr>
        <p:blipFill>
          <a:blip r:embed="rId10">
            <a:alphaModFix/>
          </a:blip>
          <a:stretch>
            <a:fillRect/>
          </a:stretch>
        </p:blipFill>
        <p:spPr>
          <a:xfrm>
            <a:off x="4345875" y="3892325"/>
            <a:ext cx="1943100" cy="581025"/>
          </a:xfrm>
          <a:prstGeom prst="rect">
            <a:avLst/>
          </a:prstGeom>
          <a:noFill/>
          <a:ln>
            <a:noFill/>
          </a:ln>
        </p:spPr>
      </p:pic>
      <p:pic>
        <p:nvPicPr>
          <p:cNvPr id="149" name="Google Shape;149;p20"/>
          <p:cNvPicPr preferRelativeResize="0"/>
          <p:nvPr/>
        </p:nvPicPr>
        <p:blipFill>
          <a:blip r:embed="rId11">
            <a:alphaModFix/>
          </a:blip>
          <a:stretch>
            <a:fillRect/>
          </a:stretch>
        </p:blipFill>
        <p:spPr>
          <a:xfrm>
            <a:off x="4523575" y="4376375"/>
            <a:ext cx="4200525" cy="323850"/>
          </a:xfrm>
          <a:prstGeom prst="rect">
            <a:avLst/>
          </a:prstGeom>
          <a:noFill/>
          <a:ln>
            <a:noFill/>
          </a:ln>
        </p:spPr>
      </p:pic>
      <p:pic>
        <p:nvPicPr>
          <p:cNvPr id="150" name="Google Shape;150;p20"/>
          <p:cNvPicPr preferRelativeResize="0"/>
          <p:nvPr/>
        </p:nvPicPr>
        <p:blipFill>
          <a:blip r:embed="rId12">
            <a:alphaModFix/>
          </a:blip>
          <a:stretch>
            <a:fillRect/>
          </a:stretch>
        </p:blipFill>
        <p:spPr>
          <a:xfrm>
            <a:off x="4523575" y="4700225"/>
            <a:ext cx="2962275" cy="371475"/>
          </a:xfrm>
          <a:prstGeom prst="rect">
            <a:avLst/>
          </a:prstGeom>
          <a:noFill/>
          <a:ln>
            <a:noFill/>
          </a:ln>
        </p:spPr>
      </p:pic>
      <p:pic>
        <p:nvPicPr>
          <p:cNvPr id="151" name="Google Shape;151;p20"/>
          <p:cNvPicPr preferRelativeResize="0"/>
          <p:nvPr/>
        </p:nvPicPr>
        <p:blipFill>
          <a:blip r:embed="rId13">
            <a:alphaModFix/>
          </a:blip>
          <a:stretch>
            <a:fillRect/>
          </a:stretch>
        </p:blipFill>
        <p:spPr>
          <a:xfrm>
            <a:off x="6354625" y="4020925"/>
            <a:ext cx="2743721" cy="323850"/>
          </a:xfrm>
          <a:prstGeom prst="rect">
            <a:avLst/>
          </a:prstGeom>
          <a:noFill/>
          <a:ln>
            <a:noFill/>
          </a:ln>
        </p:spPr>
      </p:pic>
      <p:pic>
        <p:nvPicPr>
          <p:cNvPr id="152" name="Google Shape;152;p20"/>
          <p:cNvPicPr preferRelativeResize="0"/>
          <p:nvPr/>
        </p:nvPicPr>
        <p:blipFill>
          <a:blip r:embed="rId14">
            <a:alphaModFix/>
          </a:blip>
          <a:stretch>
            <a:fillRect/>
          </a:stretch>
        </p:blipFill>
        <p:spPr>
          <a:xfrm>
            <a:off x="4345875" y="3216562"/>
            <a:ext cx="3859985" cy="323850"/>
          </a:xfrm>
          <a:prstGeom prst="rect">
            <a:avLst/>
          </a:prstGeom>
          <a:noFill/>
          <a:ln>
            <a:noFill/>
          </a:ln>
        </p:spPr>
      </p:pic>
      <p:pic>
        <p:nvPicPr>
          <p:cNvPr id="153" name="Google Shape;153;p20"/>
          <p:cNvPicPr preferRelativeResize="0"/>
          <p:nvPr/>
        </p:nvPicPr>
        <p:blipFill>
          <a:blip r:embed="rId15">
            <a:alphaModFix/>
          </a:blip>
          <a:stretch>
            <a:fillRect/>
          </a:stretch>
        </p:blipFill>
        <p:spPr>
          <a:xfrm>
            <a:off x="6059950" y="3656838"/>
            <a:ext cx="2610702" cy="247650"/>
          </a:xfrm>
          <a:prstGeom prst="rect">
            <a:avLst/>
          </a:prstGeom>
          <a:noFill/>
          <a:ln>
            <a:noFill/>
          </a:ln>
        </p:spPr>
      </p:pic>
      <p:pic>
        <p:nvPicPr>
          <p:cNvPr id="154" name="Google Shape;154;p20"/>
          <p:cNvPicPr preferRelativeResize="0"/>
          <p:nvPr/>
        </p:nvPicPr>
        <p:blipFill>
          <a:blip r:embed="rId16">
            <a:alphaModFix/>
          </a:blip>
          <a:stretch>
            <a:fillRect/>
          </a:stretch>
        </p:blipFill>
        <p:spPr>
          <a:xfrm>
            <a:off x="4328475" y="3553838"/>
            <a:ext cx="1733550" cy="457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21"/>
          <p:cNvPicPr preferRelativeResize="0"/>
          <p:nvPr/>
        </p:nvPicPr>
        <p:blipFill>
          <a:blip r:embed="rId3">
            <a:alphaModFix/>
          </a:blip>
          <a:stretch>
            <a:fillRect/>
          </a:stretch>
        </p:blipFill>
        <p:spPr>
          <a:xfrm>
            <a:off x="2454050" y="152400"/>
            <a:ext cx="4948672" cy="4838701"/>
          </a:xfrm>
          <a:prstGeom prst="rect">
            <a:avLst/>
          </a:prstGeom>
          <a:noFill/>
          <a:ln>
            <a:noFill/>
          </a:ln>
        </p:spPr>
      </p:pic>
      <p:sp>
        <p:nvSpPr>
          <p:cNvPr id="160" name="Google Shape;160;p21"/>
          <p:cNvSpPr txBox="1"/>
          <p:nvPr/>
        </p:nvSpPr>
        <p:spPr>
          <a:xfrm>
            <a:off x="319425" y="462675"/>
            <a:ext cx="1702800" cy="337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800">
                <a:solidFill>
                  <a:schemeClr val="dk2"/>
                </a:solidFill>
                <a:latin typeface="Proxima Nova"/>
                <a:ea typeface="Proxima Nova"/>
                <a:cs typeface="Proxima Nova"/>
                <a:sym typeface="Proxima Nova"/>
              </a:rPr>
              <a:t>Maillage original acquis en ligne, contenant 149178 </a:t>
            </a:r>
            <a:r>
              <a:rPr lang="fr" sz="1800">
                <a:solidFill>
                  <a:schemeClr val="dk2"/>
                </a:solidFill>
                <a:latin typeface="Proxima Nova"/>
                <a:ea typeface="Proxima Nova"/>
                <a:cs typeface="Proxima Nova"/>
                <a:sym typeface="Proxima Nova"/>
              </a:rPr>
              <a:t>triangles </a:t>
            </a:r>
            <a:r>
              <a:rPr lang="fr" sz="1800">
                <a:solidFill>
                  <a:schemeClr val="dk2"/>
                </a:solidFill>
                <a:latin typeface="Proxima Nova"/>
                <a:ea typeface="Proxima Nova"/>
                <a:cs typeface="Proxima Nova"/>
                <a:sym typeface="Proxima Nova"/>
              </a:rPr>
              <a:t>(faces)</a:t>
            </a:r>
            <a:endParaRPr sz="1800">
              <a:solidFill>
                <a:schemeClr val="dk2"/>
              </a:solidFill>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2"/>
          <p:cNvSpPr txBox="1"/>
          <p:nvPr>
            <p:ph idx="1" type="body"/>
          </p:nvPr>
        </p:nvSpPr>
        <p:spPr>
          <a:xfrm>
            <a:off x="421750" y="368750"/>
            <a:ext cx="2093700" cy="45342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fr"/>
              <a:t>vue de face de la </a:t>
            </a:r>
            <a:r>
              <a:rPr lang="fr"/>
              <a:t>simplification du maillage initial compliqué: rétention de 500 triangles dans notre Mesh</a:t>
            </a:r>
            <a:endParaRPr/>
          </a:p>
        </p:txBody>
      </p:sp>
      <p:pic>
        <p:nvPicPr>
          <p:cNvPr id="166" name="Google Shape;166;p22"/>
          <p:cNvPicPr preferRelativeResize="0"/>
          <p:nvPr/>
        </p:nvPicPr>
        <p:blipFill>
          <a:blip r:embed="rId3">
            <a:alphaModFix/>
          </a:blip>
          <a:stretch>
            <a:fillRect/>
          </a:stretch>
        </p:blipFill>
        <p:spPr>
          <a:xfrm>
            <a:off x="3475675" y="169600"/>
            <a:ext cx="4913499" cy="4804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3"/>
          <p:cNvSpPr txBox="1"/>
          <p:nvPr>
            <p:ph idx="1" type="body"/>
          </p:nvPr>
        </p:nvSpPr>
        <p:spPr>
          <a:xfrm>
            <a:off x="319500" y="4233725"/>
            <a:ext cx="8454900" cy="59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solidFill>
                  <a:srgbClr val="000000"/>
                </a:solidFill>
                <a:latin typeface="Proxima Nova"/>
                <a:ea typeface="Proxima Nova"/>
                <a:cs typeface="Proxima Nova"/>
                <a:sym typeface="Proxima Nova"/>
              </a:rPr>
              <a:t>Exemples d’ </a:t>
            </a:r>
            <a:r>
              <a:rPr b="1" lang="fr">
                <a:solidFill>
                  <a:srgbClr val="000000"/>
                </a:solidFill>
                <a:latin typeface="Proxima Nova"/>
                <a:ea typeface="Proxima Nova"/>
                <a:cs typeface="Proxima Nova"/>
                <a:sym typeface="Proxima Nova"/>
              </a:rPr>
              <a:t>histogrammes de gradients orientés</a:t>
            </a:r>
            <a:r>
              <a:rPr lang="fr">
                <a:solidFill>
                  <a:srgbClr val="000000"/>
                </a:solidFill>
                <a:latin typeface="Proxima Nova"/>
                <a:ea typeface="Proxima Nova"/>
                <a:cs typeface="Proxima Nova"/>
                <a:sym typeface="Proxima Nova"/>
              </a:rPr>
              <a:t> (HOG) pour 3 régions (sommets) de notre maillage 3D, montrant les directions des gradients et les magnitudes</a:t>
            </a:r>
            <a:endParaRPr>
              <a:latin typeface="Proxima Nova"/>
              <a:ea typeface="Proxima Nova"/>
              <a:cs typeface="Proxima Nova"/>
              <a:sym typeface="Proxima Nova"/>
            </a:endParaRPr>
          </a:p>
        </p:txBody>
      </p:sp>
      <p:pic>
        <p:nvPicPr>
          <p:cNvPr id="172" name="Google Shape;172;p23"/>
          <p:cNvPicPr preferRelativeResize="0"/>
          <p:nvPr/>
        </p:nvPicPr>
        <p:blipFill>
          <a:blip r:embed="rId3">
            <a:alphaModFix/>
          </a:blip>
          <a:stretch>
            <a:fillRect/>
          </a:stretch>
        </p:blipFill>
        <p:spPr>
          <a:xfrm>
            <a:off x="164150" y="152400"/>
            <a:ext cx="2950150" cy="2997725"/>
          </a:xfrm>
          <a:prstGeom prst="rect">
            <a:avLst/>
          </a:prstGeom>
          <a:noFill/>
          <a:ln>
            <a:noFill/>
          </a:ln>
        </p:spPr>
      </p:pic>
      <p:pic>
        <p:nvPicPr>
          <p:cNvPr id="173" name="Google Shape;173;p23"/>
          <p:cNvPicPr preferRelativeResize="0"/>
          <p:nvPr/>
        </p:nvPicPr>
        <p:blipFill>
          <a:blip r:embed="rId4">
            <a:alphaModFix/>
          </a:blip>
          <a:stretch>
            <a:fillRect/>
          </a:stretch>
        </p:blipFill>
        <p:spPr>
          <a:xfrm>
            <a:off x="3096925" y="1128040"/>
            <a:ext cx="2950150" cy="3028259"/>
          </a:xfrm>
          <a:prstGeom prst="rect">
            <a:avLst/>
          </a:prstGeom>
          <a:noFill/>
          <a:ln>
            <a:noFill/>
          </a:ln>
        </p:spPr>
      </p:pic>
      <p:pic>
        <p:nvPicPr>
          <p:cNvPr id="174" name="Google Shape;174;p23"/>
          <p:cNvPicPr preferRelativeResize="0"/>
          <p:nvPr/>
        </p:nvPicPr>
        <p:blipFill>
          <a:blip r:embed="rId5">
            <a:alphaModFix/>
          </a:blip>
          <a:stretch>
            <a:fillRect/>
          </a:stretch>
        </p:blipFill>
        <p:spPr>
          <a:xfrm>
            <a:off x="6041450" y="152400"/>
            <a:ext cx="2950150" cy="302826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4"/>
          <p:cNvSpPr txBox="1"/>
          <p:nvPr>
            <p:ph idx="1" type="body"/>
          </p:nvPr>
        </p:nvSpPr>
        <p:spPr>
          <a:xfrm>
            <a:off x="311700" y="1152475"/>
            <a:ext cx="8520600" cy="38196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rgbClr val="000000"/>
              </a:buClr>
              <a:buSzPts val="1700"/>
              <a:buFont typeface="Arial"/>
              <a:buChar char="-"/>
            </a:pPr>
            <a:r>
              <a:rPr b="1" lang="fr" sz="1700">
                <a:solidFill>
                  <a:srgbClr val="000000"/>
                </a:solidFill>
              </a:rPr>
              <a:t>Rotation du maillage de test</a:t>
            </a:r>
            <a:r>
              <a:rPr lang="fr" sz="1700">
                <a:solidFill>
                  <a:srgbClr val="000000"/>
                </a:solidFill>
              </a:rPr>
              <a:t> : Le maillage est tourné pour tester la robustesse des descripteurs face aux transformations.</a:t>
            </a:r>
            <a:endParaRPr sz="1700"/>
          </a:p>
          <a:p>
            <a:pPr indent="-336550" lvl="0" marL="457200" rtl="0" algn="l">
              <a:spcBef>
                <a:spcPts val="0"/>
              </a:spcBef>
              <a:spcAft>
                <a:spcPts val="0"/>
              </a:spcAft>
              <a:buClr>
                <a:srgbClr val="000000"/>
              </a:buClr>
              <a:buSzPts val="1700"/>
              <a:buFont typeface="Arial"/>
              <a:buChar char="-"/>
            </a:pPr>
            <a:r>
              <a:rPr b="1" lang="fr" sz="1700">
                <a:solidFill>
                  <a:srgbClr val="000000"/>
                </a:solidFill>
              </a:rPr>
              <a:t>Calcul des similarités cosinus</a:t>
            </a:r>
            <a:r>
              <a:rPr lang="fr" sz="1700">
                <a:solidFill>
                  <a:srgbClr val="000000"/>
                </a:solidFill>
              </a:rPr>
              <a:t> : La similarité cosinus est utilisée pour évaluer la correspondance entre les descripteurs HOG des points sur différents maillages.</a:t>
            </a:r>
            <a:endParaRPr sz="1700">
              <a:solidFill>
                <a:srgbClr val="000000"/>
              </a:solidFill>
            </a:endParaRPr>
          </a:p>
          <a:p>
            <a:pPr indent="0" lvl="0" marL="0" rtl="0" algn="l">
              <a:spcBef>
                <a:spcPts val="1200"/>
              </a:spcBef>
              <a:spcAft>
                <a:spcPts val="0"/>
              </a:spcAft>
              <a:buNone/>
            </a:pPr>
            <a:r>
              <a:rPr lang="fr" sz="1700">
                <a:solidFill>
                  <a:srgbClr val="000000"/>
                </a:solidFill>
              </a:rPr>
              <a:t>La formule pour la similarité cosinus entre deux vecteurs A et B est la suivante :</a:t>
            </a:r>
            <a:endParaRPr sz="1700">
              <a:solidFill>
                <a:srgbClr val="000000"/>
              </a:solidFill>
            </a:endParaRPr>
          </a:p>
          <a:p>
            <a:pPr indent="0" lvl="0" marL="0" rtl="0" algn="l">
              <a:spcBef>
                <a:spcPts val="1200"/>
              </a:spcBef>
              <a:spcAft>
                <a:spcPts val="0"/>
              </a:spcAft>
              <a:buNone/>
            </a:pPr>
            <a:r>
              <a:t/>
            </a:r>
            <a:endParaRPr sz="1700">
              <a:solidFill>
                <a:srgbClr val="000000"/>
              </a:solidFill>
            </a:endParaRPr>
          </a:p>
          <a:p>
            <a:pPr indent="457200" lvl="0" marL="914400" rtl="0" algn="l">
              <a:spcBef>
                <a:spcPts val="0"/>
              </a:spcBef>
              <a:spcAft>
                <a:spcPts val="0"/>
              </a:spcAft>
              <a:buNone/>
            </a:pPr>
            <a:r>
              <a:rPr lang="fr" sz="1700">
                <a:solidFill>
                  <a:srgbClr val="000000"/>
                </a:solidFill>
              </a:rPr>
              <a:t>Similarité cosinus = (A ⋅ B) / (||A|| ||B||)</a:t>
            </a:r>
            <a:endParaRPr sz="1700">
              <a:solidFill>
                <a:srgbClr val="000000"/>
              </a:solidFill>
            </a:endParaRPr>
          </a:p>
          <a:p>
            <a:pPr indent="0" lvl="0" marL="0" rtl="0" algn="l">
              <a:spcBef>
                <a:spcPts val="0"/>
              </a:spcBef>
              <a:spcAft>
                <a:spcPts val="0"/>
              </a:spcAft>
              <a:buNone/>
            </a:pPr>
            <a:r>
              <a:t/>
            </a:r>
            <a:endParaRPr sz="1700">
              <a:solidFill>
                <a:srgbClr val="000000"/>
              </a:solidFill>
            </a:endParaRPr>
          </a:p>
          <a:p>
            <a:pPr indent="0" lvl="0" marL="0" rtl="0" algn="l">
              <a:spcBef>
                <a:spcPts val="0"/>
              </a:spcBef>
              <a:spcAft>
                <a:spcPts val="0"/>
              </a:spcAft>
              <a:buNone/>
            </a:pPr>
            <a:r>
              <a:t/>
            </a:r>
            <a:endParaRPr sz="1700">
              <a:solidFill>
                <a:srgbClr val="000000"/>
              </a:solidFill>
            </a:endParaRPr>
          </a:p>
          <a:p>
            <a:pPr indent="-336550" lvl="0" marL="457200" rtl="0" algn="l">
              <a:spcBef>
                <a:spcPts val="1200"/>
              </a:spcBef>
              <a:spcAft>
                <a:spcPts val="0"/>
              </a:spcAft>
              <a:buClr>
                <a:srgbClr val="000000"/>
              </a:buClr>
              <a:buSzPts val="1700"/>
              <a:buFont typeface="Arial"/>
              <a:buChar char="●"/>
            </a:pPr>
            <a:r>
              <a:rPr b="1" lang="fr" sz="1700">
                <a:solidFill>
                  <a:srgbClr val="000000"/>
                </a:solidFill>
              </a:rPr>
              <a:t>A ⋅ B</a:t>
            </a:r>
            <a:r>
              <a:rPr lang="fr" sz="1700">
                <a:solidFill>
                  <a:srgbClr val="000000"/>
                </a:solidFill>
              </a:rPr>
              <a:t> est le produit scalaire entre les deux vecteurs A et B.</a:t>
            </a:r>
            <a:endParaRPr sz="1700">
              <a:solidFill>
                <a:srgbClr val="000000"/>
              </a:solidFill>
            </a:endParaRPr>
          </a:p>
          <a:p>
            <a:pPr indent="-336550" lvl="0" marL="457200" rtl="0" algn="l">
              <a:spcBef>
                <a:spcPts val="0"/>
              </a:spcBef>
              <a:spcAft>
                <a:spcPts val="0"/>
              </a:spcAft>
              <a:buClr>
                <a:srgbClr val="000000"/>
              </a:buClr>
              <a:buSzPts val="1700"/>
              <a:buFont typeface="Arial"/>
              <a:buChar char="●"/>
            </a:pPr>
            <a:r>
              <a:rPr b="1" lang="fr" sz="1700">
                <a:solidFill>
                  <a:srgbClr val="000000"/>
                </a:solidFill>
              </a:rPr>
              <a:t>∥A∥</a:t>
            </a:r>
            <a:r>
              <a:rPr lang="fr" sz="1700">
                <a:solidFill>
                  <a:srgbClr val="000000"/>
                </a:solidFill>
              </a:rPr>
              <a:t> et </a:t>
            </a:r>
            <a:r>
              <a:rPr b="1" lang="fr" sz="1700">
                <a:solidFill>
                  <a:srgbClr val="000000"/>
                </a:solidFill>
              </a:rPr>
              <a:t>∥B∥</a:t>
            </a:r>
            <a:r>
              <a:rPr lang="fr" sz="1700">
                <a:solidFill>
                  <a:srgbClr val="000000"/>
                </a:solidFill>
              </a:rPr>
              <a:t> sont les normes (ou longueurs) des vecteurs A et B.</a:t>
            </a:r>
            <a:endParaRPr sz="1700">
              <a:solidFill>
                <a:srgbClr val="000000"/>
              </a:solidFill>
            </a:endParaRPr>
          </a:p>
          <a:p>
            <a:pPr indent="0" lvl="0" marL="457200" rtl="0" algn="l">
              <a:spcBef>
                <a:spcPts val="1200"/>
              </a:spcBef>
              <a:spcAft>
                <a:spcPts val="0"/>
              </a:spcAft>
              <a:buNone/>
            </a:pPr>
            <a:r>
              <a:t/>
            </a:r>
            <a:endParaRPr sz="1700">
              <a:solidFill>
                <a:srgbClr val="000000"/>
              </a:solidFill>
            </a:endParaRPr>
          </a:p>
          <a:p>
            <a:pPr indent="0" lvl="0" marL="457200" rtl="0" algn="l">
              <a:spcBef>
                <a:spcPts val="1200"/>
              </a:spcBef>
              <a:spcAft>
                <a:spcPts val="1200"/>
              </a:spcAft>
              <a:buNone/>
            </a:pPr>
            <a:r>
              <a:t/>
            </a:r>
            <a:endParaRPr sz="1700">
              <a:solidFill>
                <a:srgbClr val="000000"/>
              </a:solidFill>
            </a:endParaRPr>
          </a:p>
        </p:txBody>
      </p:sp>
      <p:sp>
        <p:nvSpPr>
          <p:cNvPr id="180" name="Google Shape;18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3. </a:t>
            </a:r>
            <a:r>
              <a:rPr lang="fr" u="sng"/>
              <a:t>Expérimentations</a:t>
            </a:r>
            <a:endParaRPr u="sng"/>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25"/>
          <p:cNvPicPr preferRelativeResize="0"/>
          <p:nvPr/>
        </p:nvPicPr>
        <p:blipFill>
          <a:blip r:embed="rId3">
            <a:alphaModFix/>
          </a:blip>
          <a:stretch>
            <a:fillRect/>
          </a:stretch>
        </p:blipFill>
        <p:spPr>
          <a:xfrm>
            <a:off x="152400" y="152400"/>
            <a:ext cx="5143500" cy="37433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26"/>
          <p:cNvPicPr preferRelativeResize="0"/>
          <p:nvPr/>
        </p:nvPicPr>
        <p:blipFill>
          <a:blip r:embed="rId3">
            <a:alphaModFix/>
          </a:blip>
          <a:stretch>
            <a:fillRect/>
          </a:stretch>
        </p:blipFill>
        <p:spPr>
          <a:xfrm>
            <a:off x="4655750" y="93950"/>
            <a:ext cx="4417774" cy="3173997"/>
          </a:xfrm>
          <a:prstGeom prst="rect">
            <a:avLst/>
          </a:prstGeom>
          <a:noFill/>
          <a:ln>
            <a:noFill/>
          </a:ln>
        </p:spPr>
      </p:pic>
      <p:pic>
        <p:nvPicPr>
          <p:cNvPr id="191" name="Google Shape;191;p26"/>
          <p:cNvPicPr preferRelativeResize="0"/>
          <p:nvPr/>
        </p:nvPicPr>
        <p:blipFill>
          <a:blip r:embed="rId4">
            <a:alphaModFix/>
          </a:blip>
          <a:stretch>
            <a:fillRect/>
          </a:stretch>
        </p:blipFill>
        <p:spPr>
          <a:xfrm>
            <a:off x="154225" y="1815125"/>
            <a:ext cx="4417775" cy="3269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27"/>
          <p:cNvPicPr preferRelativeResize="0"/>
          <p:nvPr/>
        </p:nvPicPr>
        <p:blipFill>
          <a:blip r:embed="rId3">
            <a:alphaModFix/>
          </a:blip>
          <a:stretch>
            <a:fillRect/>
          </a:stretch>
        </p:blipFill>
        <p:spPr>
          <a:xfrm>
            <a:off x="305050" y="152400"/>
            <a:ext cx="4036250" cy="2987287"/>
          </a:xfrm>
          <a:prstGeom prst="rect">
            <a:avLst/>
          </a:prstGeom>
          <a:noFill/>
          <a:ln>
            <a:noFill/>
          </a:ln>
        </p:spPr>
      </p:pic>
      <p:pic>
        <p:nvPicPr>
          <p:cNvPr id="197" name="Google Shape;197;p27"/>
          <p:cNvPicPr preferRelativeResize="0"/>
          <p:nvPr/>
        </p:nvPicPr>
        <p:blipFill>
          <a:blip r:embed="rId4">
            <a:alphaModFix/>
          </a:blip>
          <a:stretch>
            <a:fillRect/>
          </a:stretch>
        </p:blipFill>
        <p:spPr>
          <a:xfrm>
            <a:off x="4793575" y="2031325"/>
            <a:ext cx="4036250" cy="2964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28"/>
          <p:cNvPicPr preferRelativeResize="0"/>
          <p:nvPr/>
        </p:nvPicPr>
        <p:blipFill>
          <a:blip r:embed="rId3">
            <a:alphaModFix/>
          </a:blip>
          <a:stretch>
            <a:fillRect/>
          </a:stretch>
        </p:blipFill>
        <p:spPr>
          <a:xfrm>
            <a:off x="152400" y="152400"/>
            <a:ext cx="4147950" cy="2969300"/>
          </a:xfrm>
          <a:prstGeom prst="rect">
            <a:avLst/>
          </a:prstGeom>
          <a:noFill/>
          <a:ln>
            <a:noFill/>
          </a:ln>
        </p:spPr>
      </p:pic>
      <p:pic>
        <p:nvPicPr>
          <p:cNvPr id="203" name="Google Shape;203;p28"/>
          <p:cNvPicPr preferRelativeResize="0"/>
          <p:nvPr/>
        </p:nvPicPr>
        <p:blipFill>
          <a:blip r:embed="rId4">
            <a:alphaModFix/>
          </a:blip>
          <a:stretch>
            <a:fillRect/>
          </a:stretch>
        </p:blipFill>
        <p:spPr>
          <a:xfrm>
            <a:off x="4996050" y="2079325"/>
            <a:ext cx="4147949" cy="306418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29"/>
          <p:cNvPicPr preferRelativeResize="0"/>
          <p:nvPr/>
        </p:nvPicPr>
        <p:blipFill>
          <a:blip r:embed="rId3">
            <a:alphaModFix/>
          </a:blip>
          <a:stretch>
            <a:fillRect/>
          </a:stretch>
        </p:blipFill>
        <p:spPr>
          <a:xfrm>
            <a:off x="3059375" y="152400"/>
            <a:ext cx="4838700" cy="4838700"/>
          </a:xfrm>
          <a:prstGeom prst="rect">
            <a:avLst/>
          </a:prstGeom>
          <a:noFill/>
          <a:ln>
            <a:noFill/>
          </a:ln>
        </p:spPr>
      </p:pic>
      <p:sp>
        <p:nvSpPr>
          <p:cNvPr id="209" name="Google Shape;209;p29"/>
          <p:cNvSpPr txBox="1"/>
          <p:nvPr/>
        </p:nvSpPr>
        <p:spPr>
          <a:xfrm>
            <a:off x="0" y="0"/>
            <a:ext cx="3000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800">
                <a:latin typeface="Proxima Nova"/>
                <a:ea typeface="Proxima Nova"/>
                <a:cs typeface="Proxima Nova"/>
                <a:sym typeface="Proxima Nova"/>
              </a:rPr>
              <a:t>le maillage avant appliquer des transformations: des rotations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0"/>
          <p:cNvSpPr txBox="1"/>
          <p:nvPr>
            <p:ph type="title"/>
          </p:nvPr>
        </p:nvSpPr>
        <p:spPr>
          <a:xfrm>
            <a:off x="311700" y="198425"/>
            <a:ext cx="8520600" cy="106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fr" sz="1800">
                <a:solidFill>
                  <a:srgbClr val="000000"/>
                </a:solidFill>
                <a:latin typeface="Proxima Nova"/>
                <a:ea typeface="Proxima Nova"/>
                <a:cs typeface="Proxima Nova"/>
                <a:sym typeface="Proxima Nova"/>
              </a:rPr>
              <a:t>Visualisation des points invariants et non-invariants :</a:t>
            </a:r>
            <a:r>
              <a:rPr lang="fr" sz="1800">
                <a:solidFill>
                  <a:srgbClr val="000000"/>
                </a:solidFill>
                <a:latin typeface="Proxima Nova"/>
                <a:ea typeface="Proxima Nova"/>
                <a:cs typeface="Proxima Nova"/>
                <a:sym typeface="Proxima Nova"/>
              </a:rPr>
              <a:t> Les points dont les descripteurs restent similaires sont considérés comme invariants, tandis que ceux dont les descripteurs varient sous rotation sont vus comme non-invariants.</a:t>
            </a:r>
            <a:endParaRPr sz="1800">
              <a:latin typeface="Proxima Nova"/>
              <a:ea typeface="Proxima Nova"/>
              <a:cs typeface="Proxima Nova"/>
              <a:sym typeface="Proxima Nova"/>
            </a:endParaRPr>
          </a:p>
        </p:txBody>
      </p:sp>
      <p:cxnSp>
        <p:nvCxnSpPr>
          <p:cNvPr id="215" name="Google Shape;215;p30"/>
          <p:cNvCxnSpPr/>
          <p:nvPr/>
        </p:nvCxnSpPr>
        <p:spPr>
          <a:xfrm flipH="1" rot="10800000">
            <a:off x="3666225" y="1261325"/>
            <a:ext cx="1432800" cy="11700"/>
          </a:xfrm>
          <a:prstGeom prst="straightConnector1">
            <a:avLst/>
          </a:prstGeom>
          <a:noFill/>
          <a:ln cap="flat" cmpd="sng" w="9525">
            <a:solidFill>
              <a:schemeClr val="dk2"/>
            </a:solidFill>
            <a:prstDash val="solid"/>
            <a:round/>
            <a:headEnd len="med" w="med" type="none"/>
            <a:tailEnd len="med" w="med" type="none"/>
          </a:ln>
        </p:spPr>
      </p:cxnSp>
      <p:pic>
        <p:nvPicPr>
          <p:cNvPr id="216" name="Google Shape;216;p30"/>
          <p:cNvPicPr preferRelativeResize="0"/>
          <p:nvPr/>
        </p:nvPicPr>
        <p:blipFill>
          <a:blip r:embed="rId3">
            <a:alphaModFix/>
          </a:blip>
          <a:stretch>
            <a:fillRect/>
          </a:stretch>
        </p:blipFill>
        <p:spPr>
          <a:xfrm>
            <a:off x="311700" y="1472625"/>
            <a:ext cx="3577375" cy="3577375"/>
          </a:xfrm>
          <a:prstGeom prst="rect">
            <a:avLst/>
          </a:prstGeom>
          <a:noFill/>
          <a:ln>
            <a:noFill/>
          </a:ln>
        </p:spPr>
      </p:pic>
      <p:pic>
        <p:nvPicPr>
          <p:cNvPr id="217" name="Google Shape;217;p30"/>
          <p:cNvPicPr preferRelativeResize="0"/>
          <p:nvPr/>
        </p:nvPicPr>
        <p:blipFill>
          <a:blip r:embed="rId4">
            <a:alphaModFix/>
          </a:blip>
          <a:stretch>
            <a:fillRect/>
          </a:stretch>
        </p:blipFill>
        <p:spPr>
          <a:xfrm>
            <a:off x="5251425" y="1413725"/>
            <a:ext cx="3577375" cy="35773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31"/>
          <p:cNvPicPr preferRelativeResize="0"/>
          <p:nvPr/>
        </p:nvPicPr>
        <p:blipFill>
          <a:blip r:embed="rId3">
            <a:alphaModFix/>
          </a:blip>
          <a:stretch>
            <a:fillRect/>
          </a:stretch>
        </p:blipFill>
        <p:spPr>
          <a:xfrm>
            <a:off x="152400" y="152400"/>
            <a:ext cx="4838700" cy="4838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32"/>
          <p:cNvPicPr preferRelativeResize="0"/>
          <p:nvPr/>
        </p:nvPicPr>
        <p:blipFill>
          <a:blip r:embed="rId3">
            <a:alphaModFix/>
          </a:blip>
          <a:stretch>
            <a:fillRect/>
          </a:stretch>
        </p:blipFill>
        <p:spPr>
          <a:xfrm>
            <a:off x="152400" y="152400"/>
            <a:ext cx="4838700" cy="4838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33"/>
          <p:cNvPicPr preferRelativeResize="0"/>
          <p:nvPr/>
        </p:nvPicPr>
        <p:blipFill>
          <a:blip r:embed="rId3">
            <a:alphaModFix/>
          </a:blip>
          <a:stretch>
            <a:fillRect/>
          </a:stretch>
        </p:blipFill>
        <p:spPr>
          <a:xfrm>
            <a:off x="3957175" y="93675"/>
            <a:ext cx="4838700" cy="48387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34"/>
          <p:cNvPicPr preferRelativeResize="0"/>
          <p:nvPr/>
        </p:nvPicPr>
        <p:blipFill>
          <a:blip r:embed="rId3">
            <a:alphaModFix/>
          </a:blip>
          <a:stretch>
            <a:fillRect/>
          </a:stretch>
        </p:blipFill>
        <p:spPr>
          <a:xfrm>
            <a:off x="152400" y="152400"/>
            <a:ext cx="4838700" cy="48387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id="242" name="Google Shape;242;p35"/>
          <p:cNvPicPr preferRelativeResize="0"/>
          <p:nvPr/>
        </p:nvPicPr>
        <p:blipFill>
          <a:blip r:embed="rId3">
            <a:alphaModFix/>
          </a:blip>
          <a:stretch>
            <a:fillRect/>
          </a:stretch>
        </p:blipFill>
        <p:spPr>
          <a:xfrm>
            <a:off x="152400" y="152400"/>
            <a:ext cx="4838700" cy="4838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6"/>
          <p:cNvSpPr txBox="1"/>
          <p:nvPr>
            <p:ph type="title"/>
          </p:nvPr>
        </p:nvSpPr>
        <p:spPr>
          <a:xfrm>
            <a:off x="49325" y="445025"/>
            <a:ext cx="9094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fr" sz="2600"/>
              <a:t>Commentaires (concernant nos expérimentations)</a:t>
            </a:r>
            <a:endParaRPr sz="2600"/>
          </a:p>
        </p:txBody>
      </p:sp>
      <p:sp>
        <p:nvSpPr>
          <p:cNvPr id="248" name="Google Shape;248;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rgbClr val="000000"/>
              </a:buClr>
              <a:buSzPts val="1700"/>
              <a:buFont typeface="Arial"/>
              <a:buChar char="●"/>
            </a:pPr>
            <a:r>
              <a:rPr b="1" lang="fr" sz="1700">
                <a:solidFill>
                  <a:srgbClr val="000000"/>
                </a:solidFill>
              </a:rPr>
              <a:t>Nombre de points invariants</a:t>
            </a:r>
            <a:r>
              <a:rPr lang="fr" sz="1700">
                <a:solidFill>
                  <a:srgbClr val="000000"/>
                </a:solidFill>
              </a:rPr>
              <a:t> : La majorité des points sont invariants au départ, mais le nombre de points invariants diminue avec chaque rotation supplémentaire. Cela montre la limite de l'approche HOG pour memes des rotations.</a:t>
            </a:r>
            <a:endParaRPr sz="1700">
              <a:solidFill>
                <a:srgbClr val="000000"/>
              </a:solidFill>
            </a:endParaRPr>
          </a:p>
          <a:p>
            <a:pPr indent="0" lvl="0" marL="457200" rtl="0" algn="l">
              <a:spcBef>
                <a:spcPts val="1200"/>
              </a:spcBef>
              <a:spcAft>
                <a:spcPts val="0"/>
              </a:spcAft>
              <a:buNone/>
            </a:pPr>
            <a:r>
              <a:t/>
            </a:r>
            <a:endParaRPr sz="1700">
              <a:solidFill>
                <a:srgbClr val="000000"/>
              </a:solidFill>
            </a:endParaRPr>
          </a:p>
          <a:p>
            <a:pPr indent="-336550" lvl="0" marL="457200" rtl="0" algn="l">
              <a:spcBef>
                <a:spcPts val="1200"/>
              </a:spcBef>
              <a:spcAft>
                <a:spcPts val="0"/>
              </a:spcAft>
              <a:buClr>
                <a:srgbClr val="000000"/>
              </a:buClr>
              <a:buSzPts val="1700"/>
              <a:buFont typeface="Arial"/>
              <a:buChar char="●"/>
            </a:pPr>
            <a:r>
              <a:rPr b="1" lang="fr" sz="1700">
                <a:solidFill>
                  <a:srgbClr val="000000"/>
                </a:solidFill>
              </a:rPr>
              <a:t>Impact des rotations</a:t>
            </a:r>
            <a:r>
              <a:rPr lang="fr" sz="1700">
                <a:solidFill>
                  <a:srgbClr val="000000"/>
                </a:solidFill>
              </a:rPr>
              <a:t> : On observe une baisse de l'invariance des points avec l'application de plusieurs rotations successives, indiquant que les descripteurs HOG ne sont pas entièrement robustes sous ces conditions.</a:t>
            </a:r>
            <a:endParaRPr sz="1700">
              <a:solidFill>
                <a:srgbClr val="000000"/>
              </a:solidFill>
            </a:endParaRPr>
          </a:p>
          <a:p>
            <a:pPr indent="0" lvl="0" marL="0" rtl="0" algn="l">
              <a:spcBef>
                <a:spcPts val="1200"/>
              </a:spcBef>
              <a:spcAft>
                <a:spcPts val="0"/>
              </a:spcAft>
              <a:buNone/>
            </a:pPr>
            <a:r>
              <a:t/>
            </a:r>
            <a:endParaRPr sz="1700">
              <a:solidFill>
                <a:srgbClr val="000000"/>
              </a:solidFill>
            </a:endParaRPr>
          </a:p>
          <a:p>
            <a:pPr indent="-336550" lvl="0" marL="457200" rtl="0" algn="l">
              <a:spcBef>
                <a:spcPts val="1200"/>
              </a:spcBef>
              <a:spcAft>
                <a:spcPts val="0"/>
              </a:spcAft>
              <a:buClr>
                <a:srgbClr val="000000"/>
              </a:buClr>
              <a:buSzPts val="1700"/>
              <a:buFont typeface="Arial"/>
              <a:buChar char="●"/>
            </a:pPr>
            <a:r>
              <a:rPr b="1" lang="fr" sz="1700">
                <a:solidFill>
                  <a:srgbClr val="000000"/>
                </a:solidFill>
              </a:rPr>
              <a:t>Conclusion des résultats</a:t>
            </a:r>
            <a:r>
              <a:rPr lang="fr" sz="1700">
                <a:solidFill>
                  <a:srgbClr val="000000"/>
                </a:solidFill>
              </a:rPr>
              <a:t> : L'algorithme montre des </a:t>
            </a:r>
            <a:r>
              <a:rPr b="1" lang="fr" sz="1700">
                <a:solidFill>
                  <a:srgbClr val="000000"/>
                </a:solidFill>
              </a:rPr>
              <a:t>limites de robustesse</a:t>
            </a:r>
            <a:r>
              <a:rPr lang="fr" sz="1700">
                <a:solidFill>
                  <a:srgbClr val="000000"/>
                </a:solidFill>
              </a:rPr>
              <a:t> face à des transformations continues et non rigides, ce qui met en évidence la nécessité d'explorer d'autres méthodes pour améliorer la stabilité.</a:t>
            </a:r>
            <a:endParaRPr sz="1700">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7"/>
          <p:cNvSpPr txBox="1"/>
          <p:nvPr>
            <p:ph type="title"/>
          </p:nvPr>
        </p:nvSpPr>
        <p:spPr>
          <a:xfrm>
            <a:off x="311700" y="185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4. </a:t>
            </a:r>
            <a:r>
              <a:rPr lang="fr" u="sng"/>
              <a:t>Conclusion et Perspectives</a:t>
            </a:r>
            <a:endParaRPr u="sng"/>
          </a:p>
        </p:txBody>
      </p:sp>
      <p:sp>
        <p:nvSpPr>
          <p:cNvPr id="254" name="Google Shape;254;p37"/>
          <p:cNvSpPr txBox="1"/>
          <p:nvPr>
            <p:ph idx="1" type="body"/>
          </p:nvPr>
        </p:nvSpPr>
        <p:spPr>
          <a:xfrm>
            <a:off x="311700" y="980600"/>
            <a:ext cx="8520600" cy="42939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b="1" lang="fr" sz="2400">
                <a:solidFill>
                  <a:srgbClr val="000000"/>
                </a:solidFill>
              </a:rPr>
              <a:t>Limites de la méthode actuelle</a:t>
            </a:r>
            <a:r>
              <a:rPr lang="fr" sz="2400">
                <a:solidFill>
                  <a:srgbClr val="000000"/>
                </a:solidFill>
              </a:rPr>
              <a:t> : La méthode présente une </a:t>
            </a:r>
            <a:r>
              <a:rPr b="1" lang="fr" sz="2400">
                <a:solidFill>
                  <a:srgbClr val="000000"/>
                </a:solidFill>
              </a:rPr>
              <a:t>faible robustesse</a:t>
            </a:r>
            <a:r>
              <a:rPr lang="fr" sz="2400">
                <a:solidFill>
                  <a:srgbClr val="000000"/>
                </a:solidFill>
              </a:rPr>
              <a:t> face à des transformations continues et/ou additives, ou celles non rigides.</a:t>
            </a:r>
            <a:endParaRPr sz="2400">
              <a:solidFill>
                <a:srgbClr val="000000"/>
              </a:solidFill>
            </a:endParaRPr>
          </a:p>
          <a:p>
            <a:pPr indent="0" lvl="0" marL="0" rtl="0" algn="l">
              <a:spcBef>
                <a:spcPts val="1200"/>
              </a:spcBef>
              <a:spcAft>
                <a:spcPts val="0"/>
              </a:spcAft>
              <a:buNone/>
            </a:pPr>
            <a:r>
              <a:rPr lang="fr" sz="2400">
                <a:solidFill>
                  <a:srgbClr val="000000"/>
                </a:solidFill>
              </a:rPr>
              <a:t>=&gt; Les descripteurs HOG sont </a:t>
            </a:r>
            <a:r>
              <a:rPr b="1" lang="fr" sz="2400">
                <a:solidFill>
                  <a:srgbClr val="000000"/>
                </a:solidFill>
              </a:rPr>
              <a:t>de faible globalité</a:t>
            </a:r>
            <a:r>
              <a:rPr lang="fr" sz="2400">
                <a:solidFill>
                  <a:srgbClr val="000000"/>
                </a:solidFill>
              </a:rPr>
              <a:t>, car ils </a:t>
            </a:r>
            <a:r>
              <a:rPr b="1" lang="fr" sz="2400">
                <a:solidFill>
                  <a:srgbClr val="000000"/>
                </a:solidFill>
              </a:rPr>
              <a:t>capturent des informations locales</a:t>
            </a:r>
            <a:r>
              <a:rPr lang="fr" sz="2400">
                <a:solidFill>
                  <a:srgbClr val="000000"/>
                </a:solidFill>
              </a:rPr>
              <a:t> de </a:t>
            </a:r>
            <a:r>
              <a:rPr b="1" lang="fr" sz="2400">
                <a:solidFill>
                  <a:srgbClr val="000000"/>
                </a:solidFill>
              </a:rPr>
              <a:t>gradients</a:t>
            </a:r>
            <a:r>
              <a:rPr lang="fr" sz="2400">
                <a:solidFill>
                  <a:srgbClr val="000000"/>
                </a:solidFill>
              </a:rPr>
              <a:t>, ce qui leur confère une certaine robustesse face aux variations de lumière et de posture</a:t>
            </a:r>
            <a:endParaRPr sz="2400">
              <a:solidFill>
                <a:srgbClr val="000000"/>
              </a:solidFill>
            </a:endParaRPr>
          </a:p>
          <a:p>
            <a:pPr indent="0" lvl="0" marL="0" rtl="0" algn="l">
              <a:spcBef>
                <a:spcPts val="1200"/>
              </a:spcBef>
              <a:spcAft>
                <a:spcPts val="0"/>
              </a:spcAft>
              <a:buNone/>
            </a:pPr>
            <a:r>
              <a:rPr lang="fr" sz="2400">
                <a:solidFill>
                  <a:srgbClr val="000000"/>
                </a:solidFill>
              </a:rPr>
              <a:t>locales.</a:t>
            </a:r>
            <a:endParaRPr sz="2400">
              <a:solidFill>
                <a:srgbClr val="000000"/>
              </a:solidFill>
            </a:endParaRPr>
          </a:p>
          <a:p>
            <a:pPr indent="0" lvl="0" marL="0" rtl="0" algn="l">
              <a:spcBef>
                <a:spcPts val="1200"/>
              </a:spcBef>
              <a:spcAft>
                <a:spcPts val="1200"/>
              </a:spcAft>
              <a:buNone/>
            </a:pPr>
            <a:r>
              <a:rPr lang="fr" sz="2400">
                <a:solidFill>
                  <a:srgbClr val="000000"/>
                </a:solidFill>
              </a:rPr>
              <a:t>=&gt; les déformations progressives du maillage perturbent les descripteurs, affectant ainsi la précision de la correspondance entre les points du maillage.</a:t>
            </a:r>
            <a:endParaRPr sz="2400">
              <a:solidFill>
                <a:srgbClr val="0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8"/>
          <p:cNvSpPr txBox="1"/>
          <p:nvPr>
            <p:ph type="title"/>
          </p:nvPr>
        </p:nvSpPr>
        <p:spPr>
          <a:xfrm>
            <a:off x="311700" y="367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4. </a:t>
            </a:r>
            <a:r>
              <a:rPr lang="fr" u="sng"/>
              <a:t>Conclusion et Perspectives</a:t>
            </a:r>
            <a:endParaRPr u="sng"/>
          </a:p>
          <a:p>
            <a:pPr indent="0" lvl="0" marL="0" rtl="0" algn="l">
              <a:spcBef>
                <a:spcPts val="0"/>
              </a:spcBef>
              <a:spcAft>
                <a:spcPts val="0"/>
              </a:spcAft>
              <a:buNone/>
            </a:pPr>
            <a:r>
              <a:t/>
            </a:r>
            <a:endParaRPr/>
          </a:p>
        </p:txBody>
      </p:sp>
      <p:sp>
        <p:nvSpPr>
          <p:cNvPr id="260" name="Google Shape;260;p38"/>
          <p:cNvSpPr txBox="1"/>
          <p:nvPr>
            <p:ph idx="1" type="body"/>
          </p:nvPr>
        </p:nvSpPr>
        <p:spPr>
          <a:xfrm>
            <a:off x="3442800" y="939925"/>
            <a:ext cx="5531400" cy="4005900"/>
          </a:xfrm>
          <a:prstGeom prst="rect">
            <a:avLst/>
          </a:prstGeom>
        </p:spPr>
        <p:txBody>
          <a:bodyPr anchorCtr="0" anchor="t" bIns="91425" lIns="91425" spcFirstLastPara="1" rIns="91425" wrap="square" tIns="91425">
            <a:noAutofit/>
          </a:bodyPr>
          <a:lstStyle/>
          <a:p>
            <a:pPr indent="-324961" lvl="0" marL="457200" rtl="0" algn="l">
              <a:lnSpc>
                <a:spcPct val="105000"/>
              </a:lnSpc>
              <a:spcBef>
                <a:spcPts val="0"/>
              </a:spcBef>
              <a:spcAft>
                <a:spcPts val="0"/>
              </a:spcAft>
              <a:buClr>
                <a:srgbClr val="000000"/>
              </a:buClr>
              <a:buSzPts val="1518"/>
              <a:buFont typeface="Arial"/>
              <a:buChar char="-"/>
            </a:pPr>
            <a:r>
              <a:rPr b="1" lang="fr" sz="1517">
                <a:solidFill>
                  <a:srgbClr val="000000"/>
                </a:solidFill>
                <a:latin typeface="Arial"/>
                <a:ea typeface="Arial"/>
                <a:cs typeface="Arial"/>
                <a:sym typeface="Arial"/>
              </a:rPr>
              <a:t>Propositions d'améliorations</a:t>
            </a:r>
            <a:r>
              <a:rPr lang="fr" sz="1517">
                <a:solidFill>
                  <a:srgbClr val="000000"/>
                </a:solidFill>
                <a:latin typeface="Arial"/>
                <a:ea typeface="Arial"/>
                <a:cs typeface="Arial"/>
                <a:sym typeface="Arial"/>
              </a:rPr>
              <a:t> :</a:t>
            </a:r>
            <a:endParaRPr sz="1517">
              <a:solidFill>
                <a:srgbClr val="000000"/>
              </a:solidFill>
              <a:latin typeface="Arial"/>
              <a:ea typeface="Arial"/>
              <a:cs typeface="Arial"/>
              <a:sym typeface="Arial"/>
            </a:endParaRPr>
          </a:p>
          <a:p>
            <a:pPr indent="0" lvl="0" marL="0" rtl="0" algn="l">
              <a:lnSpc>
                <a:spcPct val="105000"/>
              </a:lnSpc>
              <a:spcBef>
                <a:spcPts val="1200"/>
              </a:spcBef>
              <a:spcAft>
                <a:spcPts val="0"/>
              </a:spcAft>
              <a:buSzPts val="1018"/>
              <a:buNone/>
            </a:pPr>
            <a:r>
              <a:rPr lang="fr" sz="1517">
                <a:solidFill>
                  <a:srgbClr val="000000"/>
                </a:solidFill>
                <a:latin typeface="Arial"/>
                <a:ea typeface="Arial"/>
                <a:cs typeface="Arial"/>
                <a:sym typeface="Arial"/>
              </a:rPr>
              <a:t>Explorer des descripteurs </a:t>
            </a:r>
            <a:r>
              <a:rPr b="1" lang="fr" sz="1517">
                <a:solidFill>
                  <a:srgbClr val="000000"/>
                </a:solidFill>
                <a:latin typeface="Arial"/>
                <a:ea typeface="Arial"/>
                <a:cs typeface="Arial"/>
                <a:sym typeface="Arial"/>
              </a:rPr>
              <a:t>multi-échelles</a:t>
            </a:r>
            <a:r>
              <a:rPr lang="fr" sz="1517">
                <a:solidFill>
                  <a:srgbClr val="000000"/>
                </a:solidFill>
                <a:latin typeface="Arial"/>
                <a:ea typeface="Arial"/>
                <a:cs typeface="Arial"/>
                <a:sym typeface="Arial"/>
              </a:rPr>
              <a:t> ou d'autres invariants de segmentation ou </a:t>
            </a:r>
            <a:r>
              <a:rPr b="1" lang="fr" sz="1517">
                <a:solidFill>
                  <a:srgbClr val="000000"/>
                </a:solidFill>
                <a:latin typeface="Arial"/>
                <a:ea typeface="Arial"/>
                <a:cs typeface="Arial"/>
                <a:sym typeface="Arial"/>
              </a:rPr>
              <a:t>descripteurs à paramétrisation</a:t>
            </a:r>
            <a:r>
              <a:rPr lang="fr" sz="1517">
                <a:solidFill>
                  <a:srgbClr val="000000"/>
                </a:solidFill>
                <a:latin typeface="Arial"/>
                <a:ea typeface="Arial"/>
                <a:cs typeface="Arial"/>
                <a:sym typeface="Arial"/>
              </a:rPr>
              <a:t> </a:t>
            </a:r>
            <a:r>
              <a:rPr b="1" lang="fr" sz="1517">
                <a:solidFill>
                  <a:srgbClr val="000000"/>
                </a:solidFill>
                <a:latin typeface="Arial"/>
                <a:ea typeface="Arial"/>
                <a:cs typeface="Arial"/>
                <a:sym typeface="Arial"/>
              </a:rPr>
              <a:t>dans SE(3) invariante</a:t>
            </a:r>
            <a:r>
              <a:rPr lang="fr" sz="1517">
                <a:solidFill>
                  <a:srgbClr val="000000"/>
                </a:solidFill>
                <a:latin typeface="Arial"/>
                <a:ea typeface="Arial"/>
                <a:cs typeface="Arial"/>
                <a:sym typeface="Arial"/>
              </a:rPr>
              <a:t> pour améliorer la robustesse, tels que des </a:t>
            </a:r>
            <a:r>
              <a:rPr b="1" lang="fr" sz="1517">
                <a:solidFill>
                  <a:srgbClr val="000000"/>
                </a:solidFill>
                <a:latin typeface="Arial"/>
                <a:ea typeface="Arial"/>
                <a:cs typeface="Arial"/>
                <a:sym typeface="Arial"/>
              </a:rPr>
              <a:t>invariants d'échelle</a:t>
            </a:r>
            <a:r>
              <a:rPr lang="fr" sz="1517">
                <a:solidFill>
                  <a:srgbClr val="000000"/>
                </a:solidFill>
                <a:latin typeface="Arial"/>
                <a:ea typeface="Arial"/>
                <a:cs typeface="Arial"/>
                <a:sym typeface="Arial"/>
              </a:rPr>
              <a:t> ou basés sur les </a:t>
            </a:r>
            <a:r>
              <a:rPr b="1" lang="fr" sz="1517">
                <a:solidFill>
                  <a:srgbClr val="000000"/>
                </a:solidFill>
                <a:latin typeface="Arial"/>
                <a:ea typeface="Arial"/>
                <a:cs typeface="Arial"/>
                <a:sym typeface="Arial"/>
              </a:rPr>
              <a:t>courbures locales</a:t>
            </a:r>
            <a:r>
              <a:rPr lang="fr" sz="1517">
                <a:solidFill>
                  <a:srgbClr val="000000"/>
                </a:solidFill>
                <a:latin typeface="Arial"/>
                <a:ea typeface="Arial"/>
                <a:cs typeface="Arial"/>
                <a:sym typeface="Arial"/>
              </a:rPr>
              <a:t>.</a:t>
            </a:r>
            <a:endParaRPr sz="1517">
              <a:solidFill>
                <a:srgbClr val="000000"/>
              </a:solidFill>
              <a:latin typeface="Arial"/>
              <a:ea typeface="Arial"/>
              <a:cs typeface="Arial"/>
              <a:sym typeface="Arial"/>
            </a:endParaRPr>
          </a:p>
          <a:p>
            <a:pPr indent="0" lvl="0" marL="0" rtl="0" algn="l">
              <a:lnSpc>
                <a:spcPct val="105000"/>
              </a:lnSpc>
              <a:spcBef>
                <a:spcPts val="1200"/>
              </a:spcBef>
              <a:spcAft>
                <a:spcPts val="0"/>
              </a:spcAft>
              <a:buSzPts val="1018"/>
              <a:buNone/>
            </a:pPr>
            <a:r>
              <a:rPr lang="fr" sz="1517">
                <a:solidFill>
                  <a:srgbClr val="000000"/>
                </a:solidFill>
                <a:latin typeface="Arial"/>
                <a:ea typeface="Arial"/>
                <a:cs typeface="Arial"/>
                <a:sym typeface="Arial"/>
              </a:rPr>
              <a:t>Combiner </a:t>
            </a:r>
            <a:r>
              <a:rPr b="1" lang="fr" sz="1517">
                <a:solidFill>
                  <a:srgbClr val="000000"/>
                </a:solidFill>
                <a:latin typeface="Arial"/>
                <a:ea typeface="Arial"/>
                <a:cs typeface="Arial"/>
                <a:sym typeface="Arial"/>
              </a:rPr>
              <a:t>HOG</a:t>
            </a:r>
            <a:r>
              <a:rPr lang="fr" sz="1517">
                <a:solidFill>
                  <a:srgbClr val="000000"/>
                </a:solidFill>
                <a:latin typeface="Arial"/>
                <a:ea typeface="Arial"/>
                <a:cs typeface="Arial"/>
                <a:sym typeface="Arial"/>
              </a:rPr>
              <a:t> avec des méthodes comme </a:t>
            </a:r>
            <a:r>
              <a:rPr b="1" lang="fr" sz="1517">
                <a:solidFill>
                  <a:srgbClr val="000000"/>
                </a:solidFill>
                <a:latin typeface="Arial"/>
                <a:ea typeface="Arial"/>
                <a:cs typeface="Arial"/>
                <a:sym typeface="Arial"/>
              </a:rPr>
              <a:t>SIFT</a:t>
            </a:r>
            <a:r>
              <a:rPr lang="fr" sz="1517">
                <a:solidFill>
                  <a:srgbClr val="000000"/>
                </a:solidFill>
                <a:latin typeface="Arial"/>
                <a:ea typeface="Arial"/>
                <a:cs typeface="Arial"/>
                <a:sym typeface="Arial"/>
              </a:rPr>
              <a:t> et </a:t>
            </a:r>
            <a:r>
              <a:rPr b="1" lang="fr" sz="1517">
                <a:solidFill>
                  <a:srgbClr val="000000"/>
                </a:solidFill>
                <a:latin typeface="Arial"/>
                <a:ea typeface="Arial"/>
                <a:cs typeface="Arial"/>
                <a:sym typeface="Arial"/>
              </a:rPr>
              <a:t>ICP</a:t>
            </a:r>
            <a:r>
              <a:rPr lang="fr" sz="1517">
                <a:solidFill>
                  <a:srgbClr val="000000"/>
                </a:solidFill>
                <a:latin typeface="Arial"/>
                <a:ea typeface="Arial"/>
                <a:cs typeface="Arial"/>
                <a:sym typeface="Arial"/>
              </a:rPr>
              <a:t> (Iterative Closest Point) pour renforcer la stabilité des correspondances.</a:t>
            </a:r>
            <a:endParaRPr sz="1517">
              <a:solidFill>
                <a:srgbClr val="000000"/>
              </a:solidFill>
              <a:latin typeface="Arial"/>
              <a:ea typeface="Arial"/>
              <a:cs typeface="Arial"/>
              <a:sym typeface="Arial"/>
            </a:endParaRPr>
          </a:p>
          <a:p>
            <a:pPr indent="-324961" lvl="0" marL="457200" rtl="0" algn="l">
              <a:lnSpc>
                <a:spcPct val="105000"/>
              </a:lnSpc>
              <a:spcBef>
                <a:spcPts val="1200"/>
              </a:spcBef>
              <a:spcAft>
                <a:spcPts val="0"/>
              </a:spcAft>
              <a:buClr>
                <a:srgbClr val="000000"/>
              </a:buClr>
              <a:buSzPts val="1518"/>
              <a:buFont typeface="Arial"/>
              <a:buChar char="-"/>
            </a:pPr>
            <a:r>
              <a:rPr b="1" lang="fr" sz="1517">
                <a:solidFill>
                  <a:srgbClr val="000000"/>
                </a:solidFill>
                <a:latin typeface="Arial"/>
                <a:ea typeface="Arial"/>
                <a:cs typeface="Arial"/>
                <a:sym typeface="Arial"/>
              </a:rPr>
              <a:t>Applications futures</a:t>
            </a:r>
            <a:r>
              <a:rPr lang="fr" sz="1517">
                <a:solidFill>
                  <a:srgbClr val="000000"/>
                </a:solidFill>
                <a:latin typeface="Arial"/>
                <a:ea typeface="Arial"/>
                <a:cs typeface="Arial"/>
                <a:sym typeface="Arial"/>
              </a:rPr>
              <a:t> : </a:t>
            </a:r>
            <a:endParaRPr sz="1517">
              <a:solidFill>
                <a:srgbClr val="000000"/>
              </a:solidFill>
              <a:latin typeface="Arial"/>
              <a:ea typeface="Arial"/>
              <a:cs typeface="Arial"/>
              <a:sym typeface="Arial"/>
            </a:endParaRPr>
          </a:p>
          <a:p>
            <a:pPr indent="0" lvl="0" marL="0" rtl="0" algn="l">
              <a:lnSpc>
                <a:spcPct val="105000"/>
              </a:lnSpc>
              <a:spcBef>
                <a:spcPts val="1200"/>
              </a:spcBef>
              <a:spcAft>
                <a:spcPts val="1200"/>
              </a:spcAft>
              <a:buSzPts val="1018"/>
              <a:buNone/>
            </a:pPr>
            <a:r>
              <a:rPr lang="fr" sz="1517">
                <a:solidFill>
                  <a:srgbClr val="000000"/>
                </a:solidFill>
                <a:latin typeface="Arial"/>
                <a:ea typeface="Arial"/>
                <a:cs typeface="Arial"/>
                <a:sym typeface="Arial"/>
              </a:rPr>
              <a:t>La méthode pourrait être étendue à des applications de </a:t>
            </a:r>
            <a:r>
              <a:rPr b="1" lang="fr" sz="1517">
                <a:solidFill>
                  <a:srgbClr val="000000"/>
                </a:solidFill>
                <a:latin typeface="Arial"/>
                <a:ea typeface="Arial"/>
                <a:cs typeface="Arial"/>
                <a:sym typeface="Arial"/>
              </a:rPr>
              <a:t>détection d'expressions faciales</a:t>
            </a:r>
            <a:r>
              <a:rPr lang="fr" sz="1517">
                <a:solidFill>
                  <a:srgbClr val="000000"/>
                </a:solidFill>
                <a:latin typeface="Arial"/>
                <a:ea typeface="Arial"/>
                <a:cs typeface="Arial"/>
                <a:sym typeface="Arial"/>
              </a:rPr>
              <a:t> et d'analyse de visages sous diverses postures et déformations.</a:t>
            </a:r>
            <a:endParaRPr sz="1517">
              <a:solidFill>
                <a:srgbClr val="000000"/>
              </a:solidFill>
              <a:latin typeface="Arial"/>
              <a:ea typeface="Arial"/>
              <a:cs typeface="Arial"/>
              <a:sym typeface="Arial"/>
            </a:endParaRPr>
          </a:p>
        </p:txBody>
      </p:sp>
      <p:sp>
        <p:nvSpPr>
          <p:cNvPr id="261" name="Google Shape;261;p38"/>
          <p:cNvSpPr txBox="1"/>
          <p:nvPr>
            <p:ph idx="2" type="body"/>
          </p:nvPr>
        </p:nvSpPr>
        <p:spPr>
          <a:xfrm>
            <a:off x="311700" y="1234675"/>
            <a:ext cx="27087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fr" sz="1800">
                <a:solidFill>
                  <a:srgbClr val="000000"/>
                </a:solidFill>
                <a:latin typeface="Alfa Slab One"/>
                <a:ea typeface="Alfa Slab One"/>
                <a:cs typeface="Alfa Slab One"/>
                <a:sym typeface="Alfa Slab One"/>
              </a:rPr>
              <a:t>En plus,</a:t>
            </a:r>
            <a:endParaRPr sz="200">
              <a:solidFill>
                <a:srgbClr val="000000"/>
              </a:solidFill>
            </a:endParaRPr>
          </a:p>
          <a:p>
            <a:pPr indent="0" lvl="0" marL="0" rtl="0" algn="l">
              <a:spcBef>
                <a:spcPts val="0"/>
              </a:spcBef>
              <a:spcAft>
                <a:spcPts val="1200"/>
              </a:spcAft>
              <a:buNone/>
            </a:pPr>
            <a:r>
              <a:rPr lang="fr" sz="1500">
                <a:solidFill>
                  <a:srgbClr val="000000"/>
                </a:solidFill>
              </a:rPr>
              <a:t>L'application de </a:t>
            </a:r>
            <a:r>
              <a:rPr b="1" lang="fr" sz="1500">
                <a:solidFill>
                  <a:srgbClr val="000000"/>
                </a:solidFill>
              </a:rPr>
              <a:t>bru</a:t>
            </a:r>
            <a:r>
              <a:rPr b="1" lang="fr" sz="1500">
                <a:solidFill>
                  <a:srgbClr val="000000"/>
                </a:solidFill>
              </a:rPr>
              <a:t>i</a:t>
            </a:r>
            <a:r>
              <a:rPr b="1" lang="fr" sz="1500">
                <a:solidFill>
                  <a:srgbClr val="000000"/>
                </a:solidFill>
              </a:rPr>
              <a:t>t gaussien</a:t>
            </a:r>
            <a:r>
              <a:rPr lang="fr" sz="1500">
                <a:solidFill>
                  <a:srgbClr val="000000"/>
                </a:solidFill>
              </a:rPr>
              <a:t> au maillage simplifié, notamment après une décimation, entraîne une </a:t>
            </a:r>
            <a:r>
              <a:rPr b="1" lang="fr" sz="1500">
                <a:solidFill>
                  <a:srgbClr val="000000"/>
                </a:solidFill>
              </a:rPr>
              <a:t>altération des descripteurs</a:t>
            </a:r>
            <a:r>
              <a:rPr lang="fr" sz="1500">
                <a:solidFill>
                  <a:srgbClr val="000000"/>
                </a:solidFill>
              </a:rPr>
              <a:t> et perturbe la stabilité des correspondances. Les points du maillage deviennent moins distincts</a:t>
            </a:r>
            <a:endParaRPr sz="1500"/>
          </a:p>
        </p:txBody>
      </p:sp>
      <p:cxnSp>
        <p:nvCxnSpPr>
          <p:cNvPr id="262" name="Google Shape;262;p38"/>
          <p:cNvCxnSpPr/>
          <p:nvPr/>
        </p:nvCxnSpPr>
        <p:spPr>
          <a:xfrm>
            <a:off x="3196475" y="1085075"/>
            <a:ext cx="0" cy="38634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9"/>
          <p:cNvSpPr txBox="1"/>
          <p:nvPr>
            <p:ph type="title"/>
          </p:nvPr>
        </p:nvSpPr>
        <p:spPr>
          <a:xfrm>
            <a:off x="311700" y="386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solidFill>
                  <a:schemeClr val="dk1"/>
                </a:solidFill>
              </a:rPr>
              <a:t>Perspectives:</a:t>
            </a:r>
            <a:endParaRPr>
              <a:solidFill>
                <a:schemeClr val="dk1"/>
              </a:solidFill>
            </a:endParaRPr>
          </a:p>
        </p:txBody>
      </p:sp>
      <p:sp>
        <p:nvSpPr>
          <p:cNvPr id="268" name="Google Shape;268;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000000"/>
              </a:buClr>
              <a:buSzPts val="1600"/>
              <a:buFont typeface="Arial"/>
              <a:buChar char="-"/>
            </a:pPr>
            <a:r>
              <a:rPr b="1" lang="fr" sz="1600">
                <a:solidFill>
                  <a:srgbClr val="000000"/>
                </a:solidFill>
                <a:latin typeface="Arial"/>
                <a:ea typeface="Arial"/>
                <a:cs typeface="Arial"/>
                <a:sym typeface="Arial"/>
              </a:rPr>
              <a:t>Perspective d'évolution</a:t>
            </a:r>
            <a:r>
              <a:rPr lang="fr" sz="1600">
                <a:solidFill>
                  <a:srgbClr val="000000"/>
                </a:solidFill>
                <a:latin typeface="Arial"/>
                <a:ea typeface="Arial"/>
                <a:cs typeface="Arial"/>
                <a:sym typeface="Arial"/>
              </a:rPr>
              <a:t> : Envisager des approches combinant </a:t>
            </a:r>
            <a:r>
              <a:rPr b="1" lang="fr" sz="1600">
                <a:solidFill>
                  <a:srgbClr val="000000"/>
                </a:solidFill>
                <a:latin typeface="Arial"/>
                <a:ea typeface="Arial"/>
                <a:cs typeface="Arial"/>
                <a:sym typeface="Arial"/>
              </a:rPr>
              <a:t>HOG</a:t>
            </a:r>
            <a:r>
              <a:rPr lang="fr" sz="1600">
                <a:solidFill>
                  <a:srgbClr val="000000"/>
                </a:solidFill>
                <a:latin typeface="Arial"/>
                <a:ea typeface="Arial"/>
                <a:cs typeface="Arial"/>
                <a:sym typeface="Arial"/>
              </a:rPr>
              <a:t> avec d'autres techniques (</a:t>
            </a:r>
            <a:r>
              <a:rPr b="1" lang="fr" sz="1600">
                <a:solidFill>
                  <a:srgbClr val="000000"/>
                </a:solidFill>
                <a:latin typeface="Arial"/>
                <a:ea typeface="Arial"/>
                <a:cs typeface="Arial"/>
                <a:sym typeface="Arial"/>
              </a:rPr>
              <a:t>SIFT</a:t>
            </a:r>
            <a:r>
              <a:rPr lang="fr" sz="1600">
                <a:solidFill>
                  <a:srgbClr val="000000"/>
                </a:solidFill>
                <a:latin typeface="Arial"/>
                <a:ea typeface="Arial"/>
                <a:cs typeface="Arial"/>
                <a:sym typeface="Arial"/>
              </a:rPr>
              <a:t> ou </a:t>
            </a:r>
            <a:r>
              <a:rPr b="1" lang="fr" sz="1600">
                <a:solidFill>
                  <a:srgbClr val="000000"/>
                </a:solidFill>
                <a:latin typeface="Arial"/>
                <a:ea typeface="Arial"/>
                <a:cs typeface="Arial"/>
                <a:sym typeface="Arial"/>
              </a:rPr>
              <a:t>ICP</a:t>
            </a:r>
            <a:r>
              <a:rPr lang="fr" sz="1600">
                <a:solidFill>
                  <a:srgbClr val="000000"/>
                </a:solidFill>
                <a:latin typeface="Arial"/>
                <a:ea typeface="Arial"/>
                <a:cs typeface="Arial"/>
                <a:sym typeface="Arial"/>
              </a:rPr>
              <a:t>) pour améliorer la stabilité et l’invariance des descripteurs.</a:t>
            </a:r>
            <a:endParaRPr sz="1600">
              <a:solidFill>
                <a:srgbClr val="000000"/>
              </a:solidFill>
              <a:latin typeface="Arial"/>
              <a:ea typeface="Arial"/>
              <a:cs typeface="Arial"/>
              <a:sym typeface="Arial"/>
            </a:endParaRPr>
          </a:p>
          <a:p>
            <a:pPr indent="0" lvl="0" marL="0" rtl="0" algn="l">
              <a:spcBef>
                <a:spcPts val="1200"/>
              </a:spcBef>
              <a:spcAft>
                <a:spcPts val="0"/>
              </a:spcAft>
              <a:buNone/>
            </a:pPr>
            <a:r>
              <a:t/>
            </a:r>
            <a:endParaRPr sz="1600">
              <a:solidFill>
                <a:srgbClr val="000000"/>
              </a:solidFill>
              <a:latin typeface="Arial"/>
              <a:ea typeface="Arial"/>
              <a:cs typeface="Arial"/>
              <a:sym typeface="Arial"/>
            </a:endParaRPr>
          </a:p>
          <a:p>
            <a:pPr indent="-330200" lvl="0" marL="457200" rtl="0" algn="l">
              <a:spcBef>
                <a:spcPts val="1200"/>
              </a:spcBef>
              <a:spcAft>
                <a:spcPts val="0"/>
              </a:spcAft>
              <a:buClr>
                <a:srgbClr val="000000"/>
              </a:buClr>
              <a:buSzPts val="1600"/>
              <a:buFont typeface="Arial"/>
              <a:buChar char="★"/>
            </a:pPr>
            <a:r>
              <a:rPr b="1" lang="fr" sz="1600">
                <a:solidFill>
                  <a:srgbClr val="000000"/>
                </a:solidFill>
                <a:latin typeface="Arial"/>
                <a:ea typeface="Arial"/>
                <a:cs typeface="Arial"/>
                <a:sym typeface="Arial"/>
              </a:rPr>
              <a:t>Utilisation de géodésiques</a:t>
            </a:r>
            <a:r>
              <a:rPr lang="fr" sz="1600">
                <a:solidFill>
                  <a:srgbClr val="000000"/>
                </a:solidFill>
                <a:latin typeface="Arial"/>
                <a:ea typeface="Arial"/>
                <a:cs typeface="Arial"/>
                <a:sym typeface="Arial"/>
              </a:rPr>
              <a:t> : Une perspective intéressante est l'intégration de </a:t>
            </a:r>
            <a:r>
              <a:rPr b="1" lang="fr" sz="1600">
                <a:solidFill>
                  <a:srgbClr val="000000"/>
                </a:solidFill>
                <a:latin typeface="Arial"/>
                <a:ea typeface="Arial"/>
                <a:cs typeface="Arial"/>
                <a:sym typeface="Arial"/>
              </a:rPr>
              <a:t>potentiels géodésiques</a:t>
            </a:r>
            <a:r>
              <a:rPr lang="fr" sz="1600">
                <a:solidFill>
                  <a:srgbClr val="000000"/>
                </a:solidFill>
                <a:latin typeface="Arial"/>
                <a:ea typeface="Arial"/>
                <a:cs typeface="Arial"/>
                <a:sym typeface="Arial"/>
              </a:rPr>
              <a:t> et échantillonner un ensemble de </a:t>
            </a:r>
            <a:r>
              <a:rPr b="1" lang="fr" sz="1600">
                <a:solidFill>
                  <a:srgbClr val="000000"/>
                </a:solidFill>
                <a:latin typeface="Arial"/>
                <a:ea typeface="Arial"/>
                <a:cs typeface="Arial"/>
                <a:sym typeface="Arial"/>
              </a:rPr>
              <a:t>courbes de niveaux à trois potentiels géodésiques invariantes</a:t>
            </a:r>
            <a:r>
              <a:rPr lang="fr" sz="1600">
                <a:solidFill>
                  <a:srgbClr val="000000"/>
                </a:solidFill>
                <a:latin typeface="Arial"/>
                <a:ea typeface="Arial"/>
                <a:cs typeface="Arial"/>
                <a:sym typeface="Arial"/>
              </a:rPr>
              <a:t> pour garantir la </a:t>
            </a:r>
            <a:r>
              <a:rPr b="1" lang="fr" sz="1600">
                <a:solidFill>
                  <a:srgbClr val="000000"/>
                </a:solidFill>
                <a:latin typeface="Arial"/>
                <a:ea typeface="Arial"/>
                <a:cs typeface="Arial"/>
                <a:sym typeface="Arial"/>
              </a:rPr>
              <a:t>robustesse globale</a:t>
            </a:r>
            <a:r>
              <a:rPr lang="fr" sz="1600">
                <a:solidFill>
                  <a:srgbClr val="000000"/>
                </a:solidFill>
                <a:latin typeface="Arial"/>
                <a:ea typeface="Arial"/>
                <a:cs typeface="Arial"/>
                <a:sym typeface="Arial"/>
              </a:rPr>
              <a:t> des descripteurs de maillage. Cela permettrait de préserver les relations topologiques entre les points, indépendamment des transformations locales. Les </a:t>
            </a:r>
            <a:r>
              <a:rPr b="1" lang="fr" sz="1600">
                <a:solidFill>
                  <a:srgbClr val="000000"/>
                </a:solidFill>
                <a:latin typeface="Arial"/>
                <a:ea typeface="Arial"/>
                <a:cs typeface="Arial"/>
                <a:sym typeface="Arial"/>
              </a:rPr>
              <a:t>courbes radiales</a:t>
            </a:r>
            <a:r>
              <a:rPr lang="fr" sz="1600">
                <a:solidFill>
                  <a:srgbClr val="000000"/>
                </a:solidFill>
                <a:latin typeface="Arial"/>
                <a:ea typeface="Arial"/>
                <a:cs typeface="Arial"/>
                <a:sym typeface="Arial"/>
              </a:rPr>
              <a:t> pourraient être utilisées aussi en combinaison avec des méthodes d'interpolation comme </a:t>
            </a:r>
            <a:r>
              <a:rPr b="1" lang="fr" sz="1600">
                <a:solidFill>
                  <a:srgbClr val="000000"/>
                </a:solidFill>
                <a:latin typeface="Arial"/>
                <a:ea typeface="Arial"/>
                <a:cs typeface="Arial"/>
                <a:sym typeface="Arial"/>
              </a:rPr>
              <a:t>les polynômes de Bézier</a:t>
            </a:r>
            <a:r>
              <a:rPr lang="fr" sz="1600">
                <a:solidFill>
                  <a:srgbClr val="000000"/>
                </a:solidFill>
                <a:latin typeface="Arial"/>
                <a:ea typeface="Arial"/>
                <a:cs typeface="Arial"/>
                <a:sym typeface="Arial"/>
              </a:rPr>
              <a:t> ou des représentations dans un espace différent pour assurer une meilleure invariance sous déformations complexes.</a:t>
            </a:r>
            <a:endParaRPr sz="1600">
              <a:solidFill>
                <a:srgbClr val="000000"/>
              </a:solidFill>
              <a:latin typeface="Arial"/>
              <a:ea typeface="Arial"/>
              <a:cs typeface="Arial"/>
              <a:sym typeface="Arial"/>
            </a:endParaRPr>
          </a:p>
        </p:txBody>
      </p:sp>
      <p:cxnSp>
        <p:nvCxnSpPr>
          <p:cNvPr id="269" name="Google Shape;269;p39"/>
          <p:cNvCxnSpPr/>
          <p:nvPr/>
        </p:nvCxnSpPr>
        <p:spPr>
          <a:xfrm flipH="1" rot="10800000">
            <a:off x="178500" y="1002750"/>
            <a:ext cx="8631300" cy="47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40"/>
          <p:cNvPicPr preferRelativeResize="0"/>
          <p:nvPr/>
        </p:nvPicPr>
        <p:blipFill>
          <a:blip r:embed="rId3">
            <a:alphaModFix/>
          </a:blip>
          <a:stretch>
            <a:fillRect/>
          </a:stretch>
        </p:blipFill>
        <p:spPr>
          <a:xfrm>
            <a:off x="5912025" y="633875"/>
            <a:ext cx="3231975" cy="964375"/>
          </a:xfrm>
          <a:prstGeom prst="rect">
            <a:avLst/>
          </a:prstGeom>
          <a:noFill/>
          <a:ln>
            <a:noFill/>
          </a:ln>
        </p:spPr>
      </p:pic>
      <p:sp>
        <p:nvSpPr>
          <p:cNvPr id="275" name="Google Shape;275;p40"/>
          <p:cNvSpPr txBox="1"/>
          <p:nvPr/>
        </p:nvSpPr>
        <p:spPr>
          <a:xfrm>
            <a:off x="0" y="0"/>
            <a:ext cx="8950500" cy="8004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2"/>
              </a:buClr>
              <a:buSzPts val="2000"/>
              <a:buFont typeface="Proxima Nova"/>
              <a:buChar char="●"/>
            </a:pPr>
            <a:r>
              <a:rPr lang="fr" sz="2000" u="sng">
                <a:solidFill>
                  <a:schemeClr val="dk2"/>
                </a:solidFill>
                <a:latin typeface="Proxima Nova"/>
                <a:ea typeface="Proxima Nova"/>
                <a:cs typeface="Proxima Nova"/>
                <a:sym typeface="Proxima Nova"/>
              </a:rPr>
              <a:t>Différentes étapes de l'algorithme /la technique </a:t>
            </a:r>
            <a:r>
              <a:rPr lang="fr" sz="2000" u="sng">
                <a:solidFill>
                  <a:schemeClr val="lt1"/>
                </a:solidFill>
                <a:highlight>
                  <a:srgbClr val="1F1F1F"/>
                </a:highlight>
                <a:hlinkClick r:id="rId4">
                  <a:extLst>
                    <a:ext uri="{A12FA001-AC4F-418D-AE19-62706E023703}">
                      <ahyp:hlinkClr val="tx"/>
                    </a:ext>
                  </a:extLst>
                </a:hlinkClick>
              </a:rPr>
              <a:t>Scale-Invariant Feature Transform</a:t>
            </a:r>
            <a:r>
              <a:rPr lang="fr" sz="2000" u="sng">
                <a:solidFill>
                  <a:schemeClr val="lt1"/>
                </a:solidFill>
              </a:rPr>
              <a:t> </a:t>
            </a:r>
            <a:r>
              <a:rPr lang="fr" sz="2000" u="sng"/>
              <a:t>(SIFT)</a:t>
            </a:r>
            <a:endParaRPr sz="2000" u="sng"/>
          </a:p>
        </p:txBody>
      </p:sp>
      <p:pic>
        <p:nvPicPr>
          <p:cNvPr id="276" name="Google Shape;276;p40"/>
          <p:cNvPicPr preferRelativeResize="0"/>
          <p:nvPr/>
        </p:nvPicPr>
        <p:blipFill>
          <a:blip r:embed="rId5">
            <a:alphaModFix/>
          </a:blip>
          <a:stretch>
            <a:fillRect/>
          </a:stretch>
        </p:blipFill>
        <p:spPr>
          <a:xfrm>
            <a:off x="1004875" y="1763500"/>
            <a:ext cx="3686175" cy="504825"/>
          </a:xfrm>
          <a:prstGeom prst="rect">
            <a:avLst/>
          </a:prstGeom>
          <a:noFill/>
          <a:ln>
            <a:noFill/>
          </a:ln>
        </p:spPr>
      </p:pic>
      <p:pic>
        <p:nvPicPr>
          <p:cNvPr id="277" name="Google Shape;277;p40"/>
          <p:cNvPicPr preferRelativeResize="0"/>
          <p:nvPr/>
        </p:nvPicPr>
        <p:blipFill>
          <a:blip r:embed="rId6">
            <a:alphaModFix/>
          </a:blip>
          <a:stretch>
            <a:fillRect/>
          </a:stretch>
        </p:blipFill>
        <p:spPr>
          <a:xfrm>
            <a:off x="152400" y="1250050"/>
            <a:ext cx="3200400" cy="447675"/>
          </a:xfrm>
          <a:prstGeom prst="rect">
            <a:avLst/>
          </a:prstGeom>
          <a:noFill/>
          <a:ln>
            <a:noFill/>
          </a:ln>
        </p:spPr>
      </p:pic>
      <p:pic>
        <p:nvPicPr>
          <p:cNvPr id="278" name="Google Shape;278;p40"/>
          <p:cNvPicPr preferRelativeResize="0"/>
          <p:nvPr/>
        </p:nvPicPr>
        <p:blipFill>
          <a:blip r:embed="rId7">
            <a:alphaModFix/>
          </a:blip>
          <a:stretch>
            <a:fillRect/>
          </a:stretch>
        </p:blipFill>
        <p:spPr>
          <a:xfrm>
            <a:off x="152400" y="3172350"/>
            <a:ext cx="2990850" cy="1323975"/>
          </a:xfrm>
          <a:prstGeom prst="rect">
            <a:avLst/>
          </a:prstGeom>
          <a:noFill/>
          <a:ln>
            <a:noFill/>
          </a:ln>
        </p:spPr>
      </p:pic>
      <p:pic>
        <p:nvPicPr>
          <p:cNvPr id="279" name="Google Shape;279;p40"/>
          <p:cNvPicPr preferRelativeResize="0"/>
          <p:nvPr/>
        </p:nvPicPr>
        <p:blipFill>
          <a:blip r:embed="rId8">
            <a:alphaModFix/>
          </a:blip>
          <a:stretch>
            <a:fillRect/>
          </a:stretch>
        </p:blipFill>
        <p:spPr>
          <a:xfrm>
            <a:off x="3579950" y="3418175"/>
            <a:ext cx="3619500" cy="219075"/>
          </a:xfrm>
          <a:prstGeom prst="rect">
            <a:avLst/>
          </a:prstGeom>
          <a:noFill/>
          <a:ln>
            <a:noFill/>
          </a:ln>
        </p:spPr>
      </p:pic>
      <p:pic>
        <p:nvPicPr>
          <p:cNvPr id="280" name="Google Shape;280;p40"/>
          <p:cNvPicPr preferRelativeResize="0"/>
          <p:nvPr/>
        </p:nvPicPr>
        <p:blipFill>
          <a:blip r:embed="rId9">
            <a:alphaModFix/>
          </a:blip>
          <a:stretch>
            <a:fillRect/>
          </a:stretch>
        </p:blipFill>
        <p:spPr>
          <a:xfrm>
            <a:off x="4493450" y="3813150"/>
            <a:ext cx="2124075" cy="323850"/>
          </a:xfrm>
          <a:prstGeom prst="rect">
            <a:avLst/>
          </a:prstGeom>
          <a:noFill/>
          <a:ln>
            <a:noFill/>
          </a:ln>
        </p:spPr>
      </p:pic>
      <p:sp>
        <p:nvSpPr>
          <p:cNvPr id="281" name="Google Shape;281;p40"/>
          <p:cNvSpPr txBox="1"/>
          <p:nvPr/>
        </p:nvSpPr>
        <p:spPr>
          <a:xfrm>
            <a:off x="4147700" y="3754425"/>
            <a:ext cx="1432800" cy="9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800">
                <a:solidFill>
                  <a:schemeClr val="dk2"/>
                </a:solidFill>
                <a:latin typeface="Proxima Nova"/>
                <a:ea typeface="Proxima Nova"/>
                <a:cs typeface="Proxima Nova"/>
                <a:sym typeface="Proxima Nova"/>
              </a:rPr>
              <a:t>⇒</a:t>
            </a:r>
            <a:endParaRPr sz="1800">
              <a:solidFill>
                <a:schemeClr val="dk2"/>
              </a:solidFill>
              <a:latin typeface="Proxima Nova"/>
              <a:ea typeface="Proxima Nova"/>
              <a:cs typeface="Proxima Nova"/>
              <a:sym typeface="Proxima Nova"/>
            </a:endParaRPr>
          </a:p>
        </p:txBody>
      </p:sp>
      <p:pic>
        <p:nvPicPr>
          <p:cNvPr id="282" name="Google Shape;282;p40"/>
          <p:cNvPicPr preferRelativeResize="0"/>
          <p:nvPr/>
        </p:nvPicPr>
        <p:blipFill>
          <a:blip r:embed="rId10">
            <a:alphaModFix/>
          </a:blip>
          <a:stretch>
            <a:fillRect/>
          </a:stretch>
        </p:blipFill>
        <p:spPr>
          <a:xfrm>
            <a:off x="152400" y="860400"/>
            <a:ext cx="5391150" cy="323850"/>
          </a:xfrm>
          <a:prstGeom prst="rect">
            <a:avLst/>
          </a:prstGeom>
          <a:noFill/>
          <a:ln>
            <a:noFill/>
          </a:ln>
        </p:spPr>
      </p:pic>
      <p:cxnSp>
        <p:nvCxnSpPr>
          <p:cNvPr id="283" name="Google Shape;283;p40"/>
          <p:cNvCxnSpPr/>
          <p:nvPr/>
        </p:nvCxnSpPr>
        <p:spPr>
          <a:xfrm>
            <a:off x="5639050" y="685800"/>
            <a:ext cx="11700" cy="786900"/>
          </a:xfrm>
          <a:prstGeom prst="straightConnector1">
            <a:avLst/>
          </a:prstGeom>
          <a:noFill/>
          <a:ln cap="flat" cmpd="sng" w="9525">
            <a:solidFill>
              <a:schemeClr val="dk2"/>
            </a:solidFill>
            <a:prstDash val="solid"/>
            <a:round/>
            <a:headEnd len="med" w="med" type="none"/>
            <a:tailEnd len="med" w="med" type="none"/>
          </a:ln>
        </p:spPr>
      </p:cxnSp>
      <p:cxnSp>
        <p:nvCxnSpPr>
          <p:cNvPr id="284" name="Google Shape;284;p40"/>
          <p:cNvCxnSpPr/>
          <p:nvPr/>
        </p:nvCxnSpPr>
        <p:spPr>
          <a:xfrm>
            <a:off x="5791450" y="838200"/>
            <a:ext cx="11700" cy="7869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id="289" name="Google Shape;289;p41"/>
          <p:cNvPicPr preferRelativeResize="0"/>
          <p:nvPr/>
        </p:nvPicPr>
        <p:blipFill>
          <a:blip r:embed="rId3">
            <a:alphaModFix/>
          </a:blip>
          <a:stretch>
            <a:fillRect/>
          </a:stretch>
        </p:blipFill>
        <p:spPr>
          <a:xfrm>
            <a:off x="258100" y="175900"/>
            <a:ext cx="3400425" cy="323850"/>
          </a:xfrm>
          <a:prstGeom prst="rect">
            <a:avLst/>
          </a:prstGeom>
          <a:noFill/>
          <a:ln>
            <a:noFill/>
          </a:ln>
        </p:spPr>
      </p:pic>
      <p:pic>
        <p:nvPicPr>
          <p:cNvPr id="290" name="Google Shape;290;p41"/>
          <p:cNvPicPr preferRelativeResize="0"/>
          <p:nvPr/>
        </p:nvPicPr>
        <p:blipFill>
          <a:blip r:embed="rId4">
            <a:alphaModFix/>
          </a:blip>
          <a:stretch>
            <a:fillRect/>
          </a:stretch>
        </p:blipFill>
        <p:spPr>
          <a:xfrm>
            <a:off x="258100" y="652150"/>
            <a:ext cx="1352550" cy="276225"/>
          </a:xfrm>
          <a:prstGeom prst="rect">
            <a:avLst/>
          </a:prstGeom>
          <a:noFill/>
          <a:ln>
            <a:noFill/>
          </a:ln>
        </p:spPr>
      </p:pic>
      <p:pic>
        <p:nvPicPr>
          <p:cNvPr id="291" name="Google Shape;291;p41"/>
          <p:cNvPicPr preferRelativeResize="0"/>
          <p:nvPr/>
        </p:nvPicPr>
        <p:blipFill>
          <a:blip r:embed="rId5">
            <a:alphaModFix/>
          </a:blip>
          <a:stretch>
            <a:fillRect/>
          </a:stretch>
        </p:blipFill>
        <p:spPr>
          <a:xfrm>
            <a:off x="258100" y="1080775"/>
            <a:ext cx="2667000" cy="304800"/>
          </a:xfrm>
          <a:prstGeom prst="rect">
            <a:avLst/>
          </a:prstGeom>
          <a:noFill/>
          <a:ln>
            <a:noFill/>
          </a:ln>
        </p:spPr>
      </p:pic>
      <p:pic>
        <p:nvPicPr>
          <p:cNvPr id="292" name="Google Shape;292;p41"/>
          <p:cNvPicPr preferRelativeResize="0"/>
          <p:nvPr/>
        </p:nvPicPr>
        <p:blipFill>
          <a:blip r:embed="rId6">
            <a:alphaModFix/>
          </a:blip>
          <a:stretch>
            <a:fillRect/>
          </a:stretch>
        </p:blipFill>
        <p:spPr>
          <a:xfrm>
            <a:off x="2442325" y="3534300"/>
            <a:ext cx="6438900" cy="1152525"/>
          </a:xfrm>
          <a:prstGeom prst="rect">
            <a:avLst/>
          </a:prstGeom>
          <a:noFill/>
          <a:ln>
            <a:noFill/>
          </a:ln>
        </p:spPr>
      </p:pic>
      <p:pic>
        <p:nvPicPr>
          <p:cNvPr id="293" name="Google Shape;293;p41"/>
          <p:cNvPicPr preferRelativeResize="0"/>
          <p:nvPr/>
        </p:nvPicPr>
        <p:blipFill>
          <a:blip r:embed="rId7">
            <a:alphaModFix/>
          </a:blip>
          <a:stretch>
            <a:fillRect/>
          </a:stretch>
        </p:blipFill>
        <p:spPr>
          <a:xfrm>
            <a:off x="2442325" y="2935375"/>
            <a:ext cx="2905125" cy="3524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2"/>
          <p:cNvSpPr txBox="1"/>
          <p:nvPr>
            <p:ph idx="1" type="body"/>
          </p:nvPr>
        </p:nvSpPr>
        <p:spPr>
          <a:xfrm>
            <a:off x="241225" y="154325"/>
            <a:ext cx="3730200" cy="7665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fr" sz="2000" u="sng"/>
              <a:t>Algorithme Iterative Closest Point (ICP)</a:t>
            </a:r>
            <a:endParaRPr sz="2000" u="sng"/>
          </a:p>
        </p:txBody>
      </p:sp>
      <p:pic>
        <p:nvPicPr>
          <p:cNvPr id="299" name="Google Shape;299;p42"/>
          <p:cNvPicPr preferRelativeResize="0"/>
          <p:nvPr/>
        </p:nvPicPr>
        <p:blipFill>
          <a:blip r:embed="rId3">
            <a:alphaModFix/>
          </a:blip>
          <a:stretch>
            <a:fillRect/>
          </a:stretch>
        </p:blipFill>
        <p:spPr>
          <a:xfrm>
            <a:off x="152400" y="1073225"/>
            <a:ext cx="7419975" cy="2743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id="304" name="Google Shape;304;p43"/>
          <p:cNvPicPr preferRelativeResize="0"/>
          <p:nvPr/>
        </p:nvPicPr>
        <p:blipFill>
          <a:blip r:embed="rId3">
            <a:alphaModFix/>
          </a:blip>
          <a:stretch>
            <a:fillRect/>
          </a:stretch>
        </p:blipFill>
        <p:spPr>
          <a:xfrm>
            <a:off x="152400" y="152400"/>
            <a:ext cx="1924050" cy="409575"/>
          </a:xfrm>
          <a:prstGeom prst="rect">
            <a:avLst/>
          </a:prstGeom>
          <a:noFill/>
          <a:ln>
            <a:noFill/>
          </a:ln>
        </p:spPr>
      </p:pic>
      <p:pic>
        <p:nvPicPr>
          <p:cNvPr id="305" name="Google Shape;305;p43"/>
          <p:cNvPicPr preferRelativeResize="0"/>
          <p:nvPr/>
        </p:nvPicPr>
        <p:blipFill>
          <a:blip r:embed="rId4">
            <a:alphaModFix/>
          </a:blip>
          <a:stretch>
            <a:fillRect/>
          </a:stretch>
        </p:blipFill>
        <p:spPr>
          <a:xfrm>
            <a:off x="305050" y="1336775"/>
            <a:ext cx="4657725" cy="495300"/>
          </a:xfrm>
          <a:prstGeom prst="rect">
            <a:avLst/>
          </a:prstGeom>
          <a:noFill/>
          <a:ln>
            <a:noFill/>
          </a:ln>
        </p:spPr>
      </p:pic>
      <p:pic>
        <p:nvPicPr>
          <p:cNvPr id="306" name="Google Shape;306;p43"/>
          <p:cNvPicPr preferRelativeResize="0"/>
          <p:nvPr/>
        </p:nvPicPr>
        <p:blipFill>
          <a:blip r:embed="rId5">
            <a:alphaModFix/>
          </a:blip>
          <a:stretch>
            <a:fillRect/>
          </a:stretch>
        </p:blipFill>
        <p:spPr>
          <a:xfrm>
            <a:off x="199375" y="2139163"/>
            <a:ext cx="2428875" cy="219075"/>
          </a:xfrm>
          <a:prstGeom prst="rect">
            <a:avLst/>
          </a:prstGeom>
          <a:noFill/>
          <a:ln>
            <a:noFill/>
          </a:ln>
        </p:spPr>
      </p:pic>
      <p:pic>
        <p:nvPicPr>
          <p:cNvPr id="307" name="Google Shape;307;p43"/>
          <p:cNvPicPr preferRelativeResize="0"/>
          <p:nvPr/>
        </p:nvPicPr>
        <p:blipFill>
          <a:blip r:embed="rId6">
            <a:alphaModFix/>
          </a:blip>
          <a:stretch>
            <a:fillRect/>
          </a:stretch>
        </p:blipFill>
        <p:spPr>
          <a:xfrm>
            <a:off x="246350" y="2790425"/>
            <a:ext cx="3933825" cy="428625"/>
          </a:xfrm>
          <a:prstGeom prst="rect">
            <a:avLst/>
          </a:prstGeom>
          <a:noFill/>
          <a:ln>
            <a:noFill/>
          </a:ln>
        </p:spPr>
      </p:pic>
      <p:sp>
        <p:nvSpPr>
          <p:cNvPr id="308" name="Google Shape;308;p43"/>
          <p:cNvSpPr txBox="1"/>
          <p:nvPr/>
        </p:nvSpPr>
        <p:spPr>
          <a:xfrm>
            <a:off x="2820700" y="2001050"/>
            <a:ext cx="60594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800">
                <a:solidFill>
                  <a:schemeClr val="dk2"/>
                </a:solidFill>
                <a:latin typeface="Proxima Nova"/>
                <a:ea typeface="Proxima Nova"/>
                <a:cs typeface="Proxima Nova"/>
                <a:sym typeface="Proxima Nova"/>
              </a:rPr>
              <a:t>⇒ organisation de points : paires choisies à l’itération courane</a:t>
            </a:r>
            <a:endParaRPr sz="1800">
              <a:solidFill>
                <a:schemeClr val="dk2"/>
              </a:solidFill>
              <a:latin typeface="Proxima Nova"/>
              <a:ea typeface="Proxima Nova"/>
              <a:cs typeface="Proxima Nova"/>
              <a:sym typeface="Proxima Nova"/>
            </a:endParaRPr>
          </a:p>
        </p:txBody>
      </p:sp>
      <p:pic>
        <p:nvPicPr>
          <p:cNvPr id="309" name="Google Shape;309;p43"/>
          <p:cNvPicPr preferRelativeResize="0"/>
          <p:nvPr/>
        </p:nvPicPr>
        <p:blipFill>
          <a:blip r:embed="rId7">
            <a:alphaModFix/>
          </a:blip>
          <a:stretch>
            <a:fillRect/>
          </a:stretch>
        </p:blipFill>
        <p:spPr>
          <a:xfrm>
            <a:off x="391825" y="3418375"/>
            <a:ext cx="2428875" cy="826187"/>
          </a:xfrm>
          <a:prstGeom prst="rect">
            <a:avLst/>
          </a:prstGeom>
          <a:noFill/>
          <a:ln>
            <a:noFill/>
          </a:ln>
        </p:spPr>
      </p:pic>
      <p:pic>
        <p:nvPicPr>
          <p:cNvPr id="310" name="Google Shape;310;p43"/>
          <p:cNvPicPr preferRelativeResize="0"/>
          <p:nvPr/>
        </p:nvPicPr>
        <p:blipFill>
          <a:blip r:embed="rId8">
            <a:alphaModFix/>
          </a:blip>
          <a:stretch>
            <a:fillRect/>
          </a:stretch>
        </p:blipFill>
        <p:spPr>
          <a:xfrm>
            <a:off x="2940220" y="3918850"/>
            <a:ext cx="5820354" cy="931600"/>
          </a:xfrm>
          <a:prstGeom prst="rect">
            <a:avLst/>
          </a:prstGeom>
          <a:noFill/>
          <a:ln>
            <a:noFill/>
          </a:ln>
        </p:spPr>
      </p:pic>
      <p:pic>
        <p:nvPicPr>
          <p:cNvPr id="311" name="Google Shape;311;p43"/>
          <p:cNvPicPr preferRelativeResize="0"/>
          <p:nvPr/>
        </p:nvPicPr>
        <p:blipFill>
          <a:blip r:embed="rId9">
            <a:alphaModFix/>
          </a:blip>
          <a:stretch>
            <a:fillRect/>
          </a:stretch>
        </p:blipFill>
        <p:spPr>
          <a:xfrm>
            <a:off x="3219975" y="107175"/>
            <a:ext cx="5458400" cy="1366300"/>
          </a:xfrm>
          <a:prstGeom prst="rect">
            <a:avLst/>
          </a:prstGeom>
          <a:noFill/>
          <a:ln>
            <a:noFill/>
          </a:ln>
        </p:spPr>
      </p:pic>
      <p:pic>
        <p:nvPicPr>
          <p:cNvPr id="312" name="Google Shape;312;p43"/>
          <p:cNvPicPr preferRelativeResize="0"/>
          <p:nvPr/>
        </p:nvPicPr>
        <p:blipFill>
          <a:blip r:embed="rId10">
            <a:alphaModFix/>
          </a:blip>
          <a:stretch>
            <a:fillRect/>
          </a:stretch>
        </p:blipFill>
        <p:spPr>
          <a:xfrm>
            <a:off x="7353300" y="1052600"/>
            <a:ext cx="1790700" cy="3429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pic>
        <p:nvPicPr>
          <p:cNvPr id="317" name="Google Shape;317;p44"/>
          <p:cNvPicPr preferRelativeResize="0"/>
          <p:nvPr/>
        </p:nvPicPr>
        <p:blipFill>
          <a:blip r:embed="rId3">
            <a:alphaModFix/>
          </a:blip>
          <a:stretch>
            <a:fillRect/>
          </a:stretch>
        </p:blipFill>
        <p:spPr>
          <a:xfrm>
            <a:off x="137400" y="469475"/>
            <a:ext cx="1676400" cy="504825"/>
          </a:xfrm>
          <a:prstGeom prst="rect">
            <a:avLst/>
          </a:prstGeom>
          <a:noFill/>
          <a:ln>
            <a:noFill/>
          </a:ln>
        </p:spPr>
      </p:pic>
      <p:pic>
        <p:nvPicPr>
          <p:cNvPr id="318" name="Google Shape;318;p44"/>
          <p:cNvPicPr preferRelativeResize="0"/>
          <p:nvPr/>
        </p:nvPicPr>
        <p:blipFill>
          <a:blip r:embed="rId4">
            <a:alphaModFix/>
          </a:blip>
          <a:stretch>
            <a:fillRect/>
          </a:stretch>
        </p:blipFill>
        <p:spPr>
          <a:xfrm>
            <a:off x="959400" y="892100"/>
            <a:ext cx="3190875" cy="1085850"/>
          </a:xfrm>
          <a:prstGeom prst="rect">
            <a:avLst/>
          </a:prstGeom>
          <a:noFill/>
          <a:ln>
            <a:noFill/>
          </a:ln>
        </p:spPr>
      </p:pic>
      <p:pic>
        <p:nvPicPr>
          <p:cNvPr id="319" name="Google Shape;319;p44"/>
          <p:cNvPicPr preferRelativeResize="0"/>
          <p:nvPr/>
        </p:nvPicPr>
        <p:blipFill>
          <a:blip r:embed="rId5">
            <a:alphaModFix/>
          </a:blip>
          <a:stretch>
            <a:fillRect/>
          </a:stretch>
        </p:blipFill>
        <p:spPr>
          <a:xfrm>
            <a:off x="243075" y="2717225"/>
            <a:ext cx="2457450" cy="1352550"/>
          </a:xfrm>
          <a:prstGeom prst="rect">
            <a:avLst/>
          </a:prstGeom>
          <a:noFill/>
          <a:ln>
            <a:noFill/>
          </a:ln>
        </p:spPr>
      </p:pic>
      <p:pic>
        <p:nvPicPr>
          <p:cNvPr id="320" name="Google Shape;320;p44"/>
          <p:cNvPicPr preferRelativeResize="0"/>
          <p:nvPr/>
        </p:nvPicPr>
        <p:blipFill>
          <a:blip r:embed="rId6">
            <a:alphaModFix/>
          </a:blip>
          <a:stretch>
            <a:fillRect/>
          </a:stretch>
        </p:blipFill>
        <p:spPr>
          <a:xfrm>
            <a:off x="187250" y="2195513"/>
            <a:ext cx="3505200" cy="409575"/>
          </a:xfrm>
          <a:prstGeom prst="rect">
            <a:avLst/>
          </a:prstGeom>
          <a:noFill/>
          <a:ln>
            <a:noFill/>
          </a:ln>
        </p:spPr>
      </p:pic>
      <p:pic>
        <p:nvPicPr>
          <p:cNvPr id="321" name="Google Shape;321;p44"/>
          <p:cNvPicPr preferRelativeResize="0"/>
          <p:nvPr/>
        </p:nvPicPr>
        <p:blipFill>
          <a:blip r:embed="rId7">
            <a:alphaModFix/>
          </a:blip>
          <a:stretch>
            <a:fillRect/>
          </a:stretch>
        </p:blipFill>
        <p:spPr>
          <a:xfrm>
            <a:off x="4118200" y="2752450"/>
            <a:ext cx="390525" cy="409575"/>
          </a:xfrm>
          <a:prstGeom prst="rect">
            <a:avLst/>
          </a:prstGeom>
          <a:noFill/>
          <a:ln>
            <a:noFill/>
          </a:ln>
        </p:spPr>
      </p:pic>
      <p:pic>
        <p:nvPicPr>
          <p:cNvPr id="322" name="Google Shape;322;p44"/>
          <p:cNvPicPr preferRelativeResize="0"/>
          <p:nvPr/>
        </p:nvPicPr>
        <p:blipFill>
          <a:blip r:embed="rId8">
            <a:alphaModFix/>
          </a:blip>
          <a:stretch>
            <a:fillRect/>
          </a:stretch>
        </p:blipFill>
        <p:spPr>
          <a:xfrm>
            <a:off x="4557000" y="3010800"/>
            <a:ext cx="4133850" cy="2266950"/>
          </a:xfrm>
          <a:prstGeom prst="rect">
            <a:avLst/>
          </a:prstGeom>
          <a:noFill/>
          <a:ln>
            <a:noFill/>
          </a:ln>
        </p:spPr>
      </p:pic>
      <p:cxnSp>
        <p:nvCxnSpPr>
          <p:cNvPr id="323" name="Google Shape;323;p44"/>
          <p:cNvCxnSpPr/>
          <p:nvPr/>
        </p:nvCxnSpPr>
        <p:spPr>
          <a:xfrm>
            <a:off x="4203150" y="462700"/>
            <a:ext cx="35100" cy="1432800"/>
          </a:xfrm>
          <a:prstGeom prst="straightConnector1">
            <a:avLst/>
          </a:prstGeom>
          <a:noFill/>
          <a:ln cap="flat" cmpd="sng" w="9525">
            <a:solidFill>
              <a:schemeClr val="dk2"/>
            </a:solidFill>
            <a:prstDash val="solid"/>
            <a:round/>
            <a:headEnd len="med" w="med" type="none"/>
            <a:tailEnd len="med" w="med" type="none"/>
          </a:ln>
        </p:spPr>
      </p:cxnSp>
      <p:cxnSp>
        <p:nvCxnSpPr>
          <p:cNvPr id="324" name="Google Shape;324;p44"/>
          <p:cNvCxnSpPr/>
          <p:nvPr/>
        </p:nvCxnSpPr>
        <p:spPr>
          <a:xfrm>
            <a:off x="4355550" y="615100"/>
            <a:ext cx="35100" cy="1432800"/>
          </a:xfrm>
          <a:prstGeom prst="straightConnector1">
            <a:avLst/>
          </a:prstGeom>
          <a:noFill/>
          <a:ln cap="flat" cmpd="sng" w="9525">
            <a:solidFill>
              <a:schemeClr val="dk2"/>
            </a:solidFill>
            <a:prstDash val="solid"/>
            <a:round/>
            <a:headEnd len="med" w="med" type="none"/>
            <a:tailEnd len="med" w="med" type="none"/>
          </a:ln>
        </p:spPr>
      </p:cxnSp>
      <p:cxnSp>
        <p:nvCxnSpPr>
          <p:cNvPr id="325" name="Google Shape;325;p44"/>
          <p:cNvCxnSpPr/>
          <p:nvPr/>
        </p:nvCxnSpPr>
        <p:spPr>
          <a:xfrm>
            <a:off x="4507950" y="767500"/>
            <a:ext cx="35100" cy="1432800"/>
          </a:xfrm>
          <a:prstGeom prst="straightConnector1">
            <a:avLst/>
          </a:prstGeom>
          <a:noFill/>
          <a:ln cap="flat" cmpd="sng" w="9525">
            <a:solidFill>
              <a:schemeClr val="dk2"/>
            </a:solidFill>
            <a:prstDash val="solid"/>
            <a:round/>
            <a:headEnd len="med" w="med" type="none"/>
            <a:tailEnd len="med" w="med" type="none"/>
          </a:ln>
        </p:spPr>
      </p:cxnSp>
      <p:pic>
        <p:nvPicPr>
          <p:cNvPr id="326" name="Google Shape;326;p44"/>
          <p:cNvPicPr preferRelativeResize="0"/>
          <p:nvPr/>
        </p:nvPicPr>
        <p:blipFill>
          <a:blip r:embed="rId9">
            <a:alphaModFix/>
          </a:blip>
          <a:stretch>
            <a:fillRect/>
          </a:stretch>
        </p:blipFill>
        <p:spPr>
          <a:xfrm>
            <a:off x="4595922" y="373825"/>
            <a:ext cx="4548075" cy="928775"/>
          </a:xfrm>
          <a:prstGeom prst="rect">
            <a:avLst/>
          </a:prstGeom>
          <a:noFill/>
          <a:ln>
            <a:noFill/>
          </a:ln>
        </p:spPr>
      </p:pic>
      <p:pic>
        <p:nvPicPr>
          <p:cNvPr id="327" name="Google Shape;327;p44"/>
          <p:cNvPicPr preferRelativeResize="0"/>
          <p:nvPr/>
        </p:nvPicPr>
        <p:blipFill>
          <a:blip r:embed="rId10">
            <a:alphaModFix/>
          </a:blip>
          <a:stretch>
            <a:fillRect/>
          </a:stretch>
        </p:blipFill>
        <p:spPr>
          <a:xfrm>
            <a:off x="4710450" y="1137925"/>
            <a:ext cx="2571750" cy="1028700"/>
          </a:xfrm>
          <a:prstGeom prst="rect">
            <a:avLst/>
          </a:prstGeom>
          <a:noFill/>
          <a:ln>
            <a:noFill/>
          </a:ln>
        </p:spPr>
      </p:pic>
      <p:sp>
        <p:nvSpPr>
          <p:cNvPr id="328" name="Google Shape;328;p44"/>
          <p:cNvSpPr txBox="1"/>
          <p:nvPr/>
        </p:nvSpPr>
        <p:spPr>
          <a:xfrm>
            <a:off x="0" y="0"/>
            <a:ext cx="4417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2000"/>
              <a:t>4. Application de la transformation</a:t>
            </a:r>
            <a:endParaRPr b="1" sz="2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pic>
        <p:nvPicPr>
          <p:cNvPr id="333" name="Google Shape;333;p45"/>
          <p:cNvPicPr preferRelativeResize="0"/>
          <p:nvPr/>
        </p:nvPicPr>
        <p:blipFill>
          <a:blip r:embed="rId3">
            <a:alphaModFix/>
          </a:blip>
          <a:stretch>
            <a:fillRect/>
          </a:stretch>
        </p:blipFill>
        <p:spPr>
          <a:xfrm>
            <a:off x="245900" y="2039600"/>
            <a:ext cx="2409825" cy="495300"/>
          </a:xfrm>
          <a:prstGeom prst="rect">
            <a:avLst/>
          </a:prstGeom>
          <a:noFill/>
          <a:ln>
            <a:noFill/>
          </a:ln>
        </p:spPr>
      </p:pic>
      <p:pic>
        <p:nvPicPr>
          <p:cNvPr id="334" name="Google Shape;334;p45"/>
          <p:cNvPicPr preferRelativeResize="0"/>
          <p:nvPr/>
        </p:nvPicPr>
        <p:blipFill>
          <a:blip r:embed="rId4">
            <a:alphaModFix/>
          </a:blip>
          <a:stretch>
            <a:fillRect/>
          </a:stretch>
        </p:blipFill>
        <p:spPr>
          <a:xfrm>
            <a:off x="316350" y="1990175"/>
            <a:ext cx="6724650" cy="876300"/>
          </a:xfrm>
          <a:prstGeom prst="rect">
            <a:avLst/>
          </a:prstGeom>
          <a:noFill/>
          <a:ln>
            <a:noFill/>
          </a:ln>
        </p:spPr>
      </p:pic>
      <p:pic>
        <p:nvPicPr>
          <p:cNvPr id="335" name="Google Shape;335;p45"/>
          <p:cNvPicPr preferRelativeResize="0"/>
          <p:nvPr/>
        </p:nvPicPr>
        <p:blipFill>
          <a:blip r:embed="rId5">
            <a:alphaModFix/>
          </a:blip>
          <a:stretch>
            <a:fillRect/>
          </a:stretch>
        </p:blipFill>
        <p:spPr>
          <a:xfrm>
            <a:off x="275250" y="3641000"/>
            <a:ext cx="3733800" cy="285750"/>
          </a:xfrm>
          <a:prstGeom prst="rect">
            <a:avLst/>
          </a:prstGeom>
          <a:noFill/>
          <a:ln>
            <a:noFill/>
          </a:ln>
        </p:spPr>
      </p:pic>
      <p:pic>
        <p:nvPicPr>
          <p:cNvPr id="336" name="Google Shape;336;p45"/>
          <p:cNvPicPr preferRelativeResize="0"/>
          <p:nvPr/>
        </p:nvPicPr>
        <p:blipFill>
          <a:blip r:embed="rId6">
            <a:alphaModFix/>
          </a:blip>
          <a:stretch>
            <a:fillRect/>
          </a:stretch>
        </p:blipFill>
        <p:spPr>
          <a:xfrm>
            <a:off x="222838" y="4063775"/>
            <a:ext cx="3629025" cy="219075"/>
          </a:xfrm>
          <a:prstGeom prst="rect">
            <a:avLst/>
          </a:prstGeom>
          <a:noFill/>
          <a:ln>
            <a:noFill/>
          </a:ln>
        </p:spPr>
      </p:pic>
      <p:pic>
        <p:nvPicPr>
          <p:cNvPr id="337" name="Google Shape;337;p45"/>
          <p:cNvPicPr preferRelativeResize="0"/>
          <p:nvPr/>
        </p:nvPicPr>
        <p:blipFill>
          <a:blip r:embed="rId7">
            <a:alphaModFix/>
          </a:blip>
          <a:stretch>
            <a:fillRect/>
          </a:stretch>
        </p:blipFill>
        <p:spPr>
          <a:xfrm>
            <a:off x="454438" y="492600"/>
            <a:ext cx="3248025" cy="904875"/>
          </a:xfrm>
          <a:prstGeom prst="rect">
            <a:avLst/>
          </a:prstGeom>
          <a:noFill/>
          <a:ln>
            <a:noFill/>
          </a:ln>
        </p:spPr>
      </p:pic>
      <p:sp>
        <p:nvSpPr>
          <p:cNvPr id="338" name="Google Shape;338;p45"/>
          <p:cNvSpPr txBox="1"/>
          <p:nvPr/>
        </p:nvSpPr>
        <p:spPr>
          <a:xfrm>
            <a:off x="70450" y="0"/>
            <a:ext cx="4793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2000"/>
              <a:t>5. Calcul de l'erreur (RMSE)</a:t>
            </a:r>
            <a:endParaRPr b="1" sz="2000"/>
          </a:p>
        </p:txBody>
      </p:sp>
      <p:sp>
        <p:nvSpPr>
          <p:cNvPr id="339" name="Google Shape;339;p45"/>
          <p:cNvSpPr txBox="1"/>
          <p:nvPr/>
        </p:nvSpPr>
        <p:spPr>
          <a:xfrm>
            <a:off x="222850" y="2797650"/>
            <a:ext cx="4148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2000"/>
              <a:t>6. Répétition de l'algorithme</a:t>
            </a:r>
            <a:endParaRPr b="1" sz="2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id="344" name="Google Shape;344;p46"/>
          <p:cNvPicPr preferRelativeResize="0"/>
          <p:nvPr/>
        </p:nvPicPr>
        <p:blipFill>
          <a:blip r:embed="rId3">
            <a:alphaModFix/>
          </a:blip>
          <a:stretch>
            <a:fillRect/>
          </a:stretch>
        </p:blipFill>
        <p:spPr>
          <a:xfrm>
            <a:off x="231350" y="1355025"/>
            <a:ext cx="2457450" cy="1352550"/>
          </a:xfrm>
          <a:prstGeom prst="rect">
            <a:avLst/>
          </a:prstGeom>
          <a:noFill/>
          <a:ln>
            <a:noFill/>
          </a:ln>
        </p:spPr>
      </p:pic>
      <p:pic>
        <p:nvPicPr>
          <p:cNvPr id="345" name="Google Shape;345;p46"/>
          <p:cNvPicPr preferRelativeResize="0"/>
          <p:nvPr/>
        </p:nvPicPr>
        <p:blipFill>
          <a:blip r:embed="rId4">
            <a:alphaModFix/>
          </a:blip>
          <a:stretch>
            <a:fillRect/>
          </a:stretch>
        </p:blipFill>
        <p:spPr>
          <a:xfrm>
            <a:off x="175525" y="833313"/>
            <a:ext cx="3505200" cy="409575"/>
          </a:xfrm>
          <a:prstGeom prst="rect">
            <a:avLst/>
          </a:prstGeom>
          <a:noFill/>
          <a:ln>
            <a:noFill/>
          </a:ln>
        </p:spPr>
      </p:pic>
      <p:pic>
        <p:nvPicPr>
          <p:cNvPr id="346" name="Google Shape;346;p46"/>
          <p:cNvPicPr preferRelativeResize="0"/>
          <p:nvPr/>
        </p:nvPicPr>
        <p:blipFill>
          <a:blip r:embed="rId5">
            <a:alphaModFix/>
          </a:blip>
          <a:stretch>
            <a:fillRect/>
          </a:stretch>
        </p:blipFill>
        <p:spPr>
          <a:xfrm>
            <a:off x="4118200" y="2752450"/>
            <a:ext cx="390525" cy="409575"/>
          </a:xfrm>
          <a:prstGeom prst="rect">
            <a:avLst/>
          </a:prstGeom>
          <a:noFill/>
          <a:ln>
            <a:noFill/>
          </a:ln>
        </p:spPr>
      </p:pic>
      <p:pic>
        <p:nvPicPr>
          <p:cNvPr id="347" name="Google Shape;347;p46"/>
          <p:cNvPicPr preferRelativeResize="0"/>
          <p:nvPr/>
        </p:nvPicPr>
        <p:blipFill>
          <a:blip r:embed="rId6">
            <a:alphaModFix/>
          </a:blip>
          <a:stretch>
            <a:fillRect/>
          </a:stretch>
        </p:blipFill>
        <p:spPr>
          <a:xfrm>
            <a:off x="4545275" y="1648600"/>
            <a:ext cx="4133850" cy="2266950"/>
          </a:xfrm>
          <a:prstGeom prst="rect">
            <a:avLst/>
          </a:prstGeom>
          <a:noFill/>
          <a:ln>
            <a:noFill/>
          </a:ln>
        </p:spPr>
      </p:pic>
      <p:sp>
        <p:nvSpPr>
          <p:cNvPr id="348" name="Google Shape;348;p46"/>
          <p:cNvSpPr txBox="1"/>
          <p:nvPr/>
        </p:nvSpPr>
        <p:spPr>
          <a:xfrm>
            <a:off x="0" y="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2000"/>
              <a:t>7. Résultat final</a:t>
            </a:r>
            <a:endParaRPr b="1" sz="20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id="353" name="Google Shape;353;p47"/>
          <p:cNvPicPr preferRelativeResize="0"/>
          <p:nvPr/>
        </p:nvPicPr>
        <p:blipFill>
          <a:blip r:embed="rId3">
            <a:alphaModFix/>
          </a:blip>
          <a:stretch>
            <a:fillRect/>
          </a:stretch>
        </p:blipFill>
        <p:spPr>
          <a:xfrm>
            <a:off x="240788" y="661263"/>
            <a:ext cx="8662429" cy="38209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pic>
        <p:nvPicPr>
          <p:cNvPr id="358" name="Google Shape;358;p48"/>
          <p:cNvPicPr preferRelativeResize="0"/>
          <p:nvPr/>
        </p:nvPicPr>
        <p:blipFill>
          <a:blip r:embed="rId3">
            <a:alphaModFix/>
          </a:blip>
          <a:stretch>
            <a:fillRect/>
          </a:stretch>
        </p:blipFill>
        <p:spPr>
          <a:xfrm>
            <a:off x="0" y="560070"/>
            <a:ext cx="9144000" cy="402336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9"/>
          <p:cNvSpPr txBox="1"/>
          <p:nvPr>
            <p:ph type="title"/>
          </p:nvPr>
        </p:nvSpPr>
        <p:spPr>
          <a:xfrm>
            <a:off x="311700" y="268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u="sng"/>
              <a:t>Partie 2 (</a:t>
            </a:r>
            <a:r>
              <a:rPr lang="fr" u="sng"/>
              <a:t>Expérimentations avec la géodésie)</a:t>
            </a:r>
            <a:endParaRPr/>
          </a:p>
        </p:txBody>
      </p:sp>
      <p:pic>
        <p:nvPicPr>
          <p:cNvPr id="364" name="Google Shape;364;p49"/>
          <p:cNvPicPr preferRelativeResize="0"/>
          <p:nvPr/>
        </p:nvPicPr>
        <p:blipFill>
          <a:blip r:embed="rId3">
            <a:alphaModFix/>
          </a:blip>
          <a:stretch>
            <a:fillRect/>
          </a:stretch>
        </p:blipFill>
        <p:spPr>
          <a:xfrm>
            <a:off x="65800" y="1017725"/>
            <a:ext cx="8839201" cy="398265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pic>
        <p:nvPicPr>
          <p:cNvPr id="369" name="Google Shape;369;p50"/>
          <p:cNvPicPr preferRelativeResize="0"/>
          <p:nvPr/>
        </p:nvPicPr>
        <p:blipFill>
          <a:blip r:embed="rId3">
            <a:alphaModFix/>
          </a:blip>
          <a:stretch>
            <a:fillRect/>
          </a:stretch>
        </p:blipFill>
        <p:spPr>
          <a:xfrm>
            <a:off x="1331138" y="152400"/>
            <a:ext cx="6481722" cy="48387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pic>
        <p:nvPicPr>
          <p:cNvPr id="374" name="Google Shape;374;p51"/>
          <p:cNvPicPr preferRelativeResize="0"/>
          <p:nvPr/>
        </p:nvPicPr>
        <p:blipFill>
          <a:blip r:embed="rId3">
            <a:alphaModFix/>
          </a:blip>
          <a:stretch>
            <a:fillRect/>
          </a:stretch>
        </p:blipFill>
        <p:spPr>
          <a:xfrm>
            <a:off x="912001" y="117425"/>
            <a:ext cx="7085147" cy="5143500"/>
          </a:xfrm>
          <a:prstGeom prst="rect">
            <a:avLst/>
          </a:prstGeom>
          <a:noFill/>
          <a:ln>
            <a:noFill/>
          </a:ln>
        </p:spPr>
      </p:pic>
      <p:sp>
        <p:nvSpPr>
          <p:cNvPr id="375" name="Google Shape;375;p51"/>
          <p:cNvSpPr txBox="1"/>
          <p:nvPr/>
        </p:nvSpPr>
        <p:spPr>
          <a:xfrm>
            <a:off x="1728600" y="-47000"/>
            <a:ext cx="1209600" cy="25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Proxima Nova"/>
                <a:ea typeface="Proxima Nova"/>
                <a:cs typeface="Proxima Nova"/>
                <a:sym typeface="Proxima Nova"/>
              </a:rPr>
              <a:t>tripolaires*</a:t>
            </a:r>
            <a:endParaRPr sz="1300">
              <a:solidFill>
                <a:schemeClr val="dk2"/>
              </a:solidFill>
              <a:latin typeface="Proxima Nova"/>
              <a:ea typeface="Proxima Nova"/>
              <a:cs typeface="Proxima Nova"/>
              <a:sym typeface="Proxima Nov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pic>
        <p:nvPicPr>
          <p:cNvPr id="380" name="Google Shape;380;p52"/>
          <p:cNvPicPr preferRelativeResize="0"/>
          <p:nvPr/>
        </p:nvPicPr>
        <p:blipFill>
          <a:blip r:embed="rId3">
            <a:alphaModFix/>
          </a:blip>
          <a:stretch>
            <a:fillRect/>
          </a:stretch>
        </p:blipFill>
        <p:spPr>
          <a:xfrm>
            <a:off x="152400" y="152400"/>
            <a:ext cx="8839201" cy="4459746"/>
          </a:xfrm>
          <a:prstGeom prst="rect">
            <a:avLst/>
          </a:prstGeom>
          <a:noFill/>
          <a:ln>
            <a:noFill/>
          </a:ln>
        </p:spPr>
      </p:pic>
      <p:sp>
        <p:nvSpPr>
          <p:cNvPr id="381" name="Google Shape;381;p52"/>
          <p:cNvSpPr txBox="1"/>
          <p:nvPr/>
        </p:nvSpPr>
        <p:spPr>
          <a:xfrm>
            <a:off x="155000" y="4666725"/>
            <a:ext cx="7515600" cy="37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800">
                <a:solidFill>
                  <a:schemeClr val="dk2"/>
                </a:solidFill>
                <a:latin typeface="Proxima Nova"/>
                <a:ea typeface="Proxima Nova"/>
                <a:cs typeface="Proxima Nova"/>
                <a:sym typeface="Proxima Nova"/>
              </a:rPr>
              <a:t>alignement de maillage original et celui avec rotation avec ICP</a:t>
            </a:r>
            <a:endParaRPr sz="1800">
              <a:solidFill>
                <a:schemeClr val="dk2"/>
              </a:solidFill>
              <a:latin typeface="Proxima Nova"/>
              <a:ea typeface="Proxima Nova"/>
              <a:cs typeface="Proxima Nova"/>
              <a:sym typeface="Proxima Nova"/>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3"/>
          <p:cNvSpPr txBox="1"/>
          <p:nvPr/>
        </p:nvSpPr>
        <p:spPr>
          <a:xfrm>
            <a:off x="0" y="0"/>
            <a:ext cx="30000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50">
                <a:solidFill>
                  <a:srgbClr val="E3E3E3"/>
                </a:solidFill>
                <a:highlight>
                  <a:srgbClr val="383838"/>
                </a:highlight>
                <a:latin typeface="Courier New"/>
                <a:ea typeface="Courier New"/>
                <a:cs typeface="Courier New"/>
                <a:sym typeface="Courier New"/>
              </a:rPr>
              <a:t>Statistiques des erreurs entre les contours originaux et transformés :</a:t>
            </a:r>
            <a:endParaRPr sz="1050">
              <a:solidFill>
                <a:srgbClr val="E3E3E3"/>
              </a:solidFill>
              <a:highlight>
                <a:srgbClr val="383838"/>
              </a:highlight>
              <a:latin typeface="Courier New"/>
              <a:ea typeface="Courier New"/>
              <a:cs typeface="Courier New"/>
              <a:sym typeface="Courier New"/>
            </a:endParaRPr>
          </a:p>
          <a:p>
            <a:pPr indent="0" lvl="0" marL="0" rtl="0" algn="l">
              <a:spcBef>
                <a:spcPts val="0"/>
              </a:spcBef>
              <a:spcAft>
                <a:spcPts val="0"/>
              </a:spcAft>
              <a:buNone/>
            </a:pPr>
            <a:r>
              <a:rPr lang="fr" sz="1050">
                <a:solidFill>
                  <a:srgbClr val="E3E3E3"/>
                </a:solidFill>
                <a:highlight>
                  <a:srgbClr val="383838"/>
                </a:highlight>
                <a:latin typeface="Courier New"/>
                <a:ea typeface="Courier New"/>
                <a:cs typeface="Courier New"/>
                <a:sym typeface="Courier New"/>
              </a:rPr>
              <a:t>Distance cible 104: Erreur Moyenne = 2.9941, Erreur Maximale = 3.7829</a:t>
            </a:r>
            <a:endParaRPr sz="1050">
              <a:solidFill>
                <a:srgbClr val="E3E3E3"/>
              </a:solidFill>
              <a:highlight>
                <a:srgbClr val="383838"/>
              </a:highlight>
              <a:latin typeface="Courier New"/>
              <a:ea typeface="Courier New"/>
              <a:cs typeface="Courier New"/>
              <a:sym typeface="Courier New"/>
            </a:endParaRPr>
          </a:p>
          <a:p>
            <a:pPr indent="0" lvl="0" marL="0" rtl="0" algn="l">
              <a:spcBef>
                <a:spcPts val="0"/>
              </a:spcBef>
              <a:spcAft>
                <a:spcPts val="0"/>
              </a:spcAft>
              <a:buNone/>
            </a:pPr>
            <a:r>
              <a:rPr lang="fr" sz="1050">
                <a:solidFill>
                  <a:srgbClr val="E3E3E3"/>
                </a:solidFill>
                <a:highlight>
                  <a:srgbClr val="383838"/>
                </a:highlight>
                <a:latin typeface="Courier New"/>
                <a:ea typeface="Courier New"/>
                <a:cs typeface="Courier New"/>
                <a:sym typeface="Courier New"/>
              </a:rPr>
              <a:t>Distance cible 119: Erreur Moyenne = 3.0369, Erreur Maximale = 3.9963</a:t>
            </a:r>
            <a:endParaRPr sz="1050">
              <a:solidFill>
                <a:srgbClr val="E3E3E3"/>
              </a:solidFill>
              <a:highlight>
                <a:srgbClr val="383838"/>
              </a:highlight>
              <a:latin typeface="Courier New"/>
              <a:ea typeface="Courier New"/>
              <a:cs typeface="Courier New"/>
              <a:sym typeface="Courier New"/>
            </a:endParaRPr>
          </a:p>
          <a:p>
            <a:pPr indent="0" lvl="0" marL="0" rtl="0" algn="l">
              <a:spcBef>
                <a:spcPts val="0"/>
              </a:spcBef>
              <a:spcAft>
                <a:spcPts val="0"/>
              </a:spcAft>
              <a:buNone/>
            </a:pPr>
            <a:r>
              <a:rPr lang="fr" sz="1050">
                <a:solidFill>
                  <a:srgbClr val="E3E3E3"/>
                </a:solidFill>
                <a:highlight>
                  <a:srgbClr val="383838"/>
                </a:highlight>
                <a:latin typeface="Courier New"/>
                <a:ea typeface="Courier New"/>
                <a:cs typeface="Courier New"/>
                <a:sym typeface="Courier New"/>
              </a:rPr>
              <a:t>Distance cible 129: Erreur Moyenne = 3.0803, Erreur Maximale = 4.1070</a:t>
            </a:r>
            <a:endParaRPr sz="1050">
              <a:solidFill>
                <a:srgbClr val="E3E3E3"/>
              </a:solidFill>
              <a:highlight>
                <a:srgbClr val="383838"/>
              </a:highlight>
              <a:latin typeface="Courier New"/>
              <a:ea typeface="Courier New"/>
              <a:cs typeface="Courier New"/>
              <a:sym typeface="Courier New"/>
            </a:endParaRPr>
          </a:p>
          <a:p>
            <a:pPr indent="0" lvl="0" marL="0" rtl="0" algn="l">
              <a:spcBef>
                <a:spcPts val="0"/>
              </a:spcBef>
              <a:spcAft>
                <a:spcPts val="0"/>
              </a:spcAft>
              <a:buNone/>
            </a:pPr>
            <a:r>
              <a:rPr lang="fr" sz="1050">
                <a:solidFill>
                  <a:srgbClr val="E3E3E3"/>
                </a:solidFill>
                <a:highlight>
                  <a:srgbClr val="383838"/>
                </a:highlight>
                <a:latin typeface="Courier New"/>
                <a:ea typeface="Courier New"/>
                <a:cs typeface="Courier New"/>
                <a:sym typeface="Courier New"/>
              </a:rPr>
              <a:t>Distance cible 139: Erreur Moyenne = 3.1442, Erreur Maximale = 4.2558</a:t>
            </a:r>
            <a:endParaRPr sz="1050">
              <a:solidFill>
                <a:srgbClr val="E3E3E3"/>
              </a:solidFill>
              <a:highlight>
                <a:srgbClr val="383838"/>
              </a:highlight>
              <a:latin typeface="Courier New"/>
              <a:ea typeface="Courier New"/>
              <a:cs typeface="Courier New"/>
              <a:sym typeface="Courier New"/>
            </a:endParaRPr>
          </a:p>
          <a:p>
            <a:pPr indent="0" lvl="0" marL="0" rtl="0" algn="l">
              <a:spcBef>
                <a:spcPts val="0"/>
              </a:spcBef>
              <a:spcAft>
                <a:spcPts val="0"/>
              </a:spcAft>
              <a:buNone/>
            </a:pPr>
            <a:r>
              <a:rPr lang="fr" sz="1050">
                <a:solidFill>
                  <a:srgbClr val="E3E3E3"/>
                </a:solidFill>
                <a:highlight>
                  <a:srgbClr val="383838"/>
                </a:highlight>
                <a:latin typeface="Courier New"/>
                <a:ea typeface="Courier New"/>
                <a:cs typeface="Courier New"/>
                <a:sym typeface="Courier New"/>
              </a:rPr>
              <a:t>Distance cible 149: Erreur Moyenne = 3.3142, Erreur Maximale = 4.4543</a:t>
            </a:r>
            <a:endParaRPr sz="1050">
              <a:solidFill>
                <a:srgbClr val="E3E3E3"/>
              </a:solidFill>
              <a:highlight>
                <a:srgbClr val="383838"/>
              </a:highlight>
              <a:latin typeface="Courier New"/>
              <a:ea typeface="Courier New"/>
              <a:cs typeface="Courier New"/>
              <a:sym typeface="Courier New"/>
            </a:endParaRPr>
          </a:p>
          <a:p>
            <a:pPr indent="0" lvl="0" marL="0" rtl="0" algn="l">
              <a:spcBef>
                <a:spcPts val="0"/>
              </a:spcBef>
              <a:spcAft>
                <a:spcPts val="0"/>
              </a:spcAft>
              <a:buNone/>
            </a:pPr>
            <a:r>
              <a:rPr lang="fr" sz="1050">
                <a:solidFill>
                  <a:srgbClr val="E3E3E3"/>
                </a:solidFill>
                <a:highlight>
                  <a:srgbClr val="383838"/>
                </a:highlight>
                <a:latin typeface="Courier New"/>
                <a:ea typeface="Courier New"/>
                <a:cs typeface="Courier New"/>
                <a:sym typeface="Courier New"/>
              </a:rPr>
              <a:t>Distance cible 159: Erreur Moyenne = 3.4252, Erreur Maximale = 4.6502</a:t>
            </a:r>
            <a:endParaRPr sz="1050">
              <a:solidFill>
                <a:srgbClr val="E3E3E3"/>
              </a:solidFill>
              <a:highlight>
                <a:srgbClr val="383838"/>
              </a:highlight>
              <a:latin typeface="Courier New"/>
              <a:ea typeface="Courier New"/>
              <a:cs typeface="Courier New"/>
              <a:sym typeface="Courier New"/>
            </a:endParaRPr>
          </a:p>
          <a:p>
            <a:pPr indent="0" lvl="0" marL="0" rtl="0" algn="l">
              <a:spcBef>
                <a:spcPts val="0"/>
              </a:spcBef>
              <a:spcAft>
                <a:spcPts val="0"/>
              </a:spcAft>
              <a:buNone/>
            </a:pPr>
            <a:r>
              <a:rPr lang="fr" sz="1050">
                <a:solidFill>
                  <a:srgbClr val="E3E3E3"/>
                </a:solidFill>
                <a:highlight>
                  <a:srgbClr val="383838"/>
                </a:highlight>
                <a:latin typeface="Courier New"/>
                <a:ea typeface="Courier New"/>
                <a:cs typeface="Courier New"/>
                <a:sym typeface="Courier New"/>
              </a:rPr>
              <a:t>Distance cible 174: Erreur Moyenne = 3.6120, Erreur Maximale = 4.9048</a:t>
            </a:r>
            <a:endParaRPr/>
          </a:p>
        </p:txBody>
      </p:sp>
      <p:pic>
        <p:nvPicPr>
          <p:cNvPr id="387" name="Google Shape;387;p53"/>
          <p:cNvPicPr preferRelativeResize="0"/>
          <p:nvPr/>
        </p:nvPicPr>
        <p:blipFill>
          <a:blip r:embed="rId3">
            <a:alphaModFix/>
          </a:blip>
          <a:stretch>
            <a:fillRect/>
          </a:stretch>
        </p:blipFill>
        <p:spPr>
          <a:xfrm>
            <a:off x="3000000" y="152400"/>
            <a:ext cx="5991600" cy="4342530"/>
          </a:xfrm>
          <a:prstGeom prst="rect">
            <a:avLst/>
          </a:prstGeom>
          <a:noFill/>
          <a:ln>
            <a:noFill/>
          </a:ln>
        </p:spPr>
      </p:pic>
      <p:pic>
        <p:nvPicPr>
          <p:cNvPr id="388" name="Google Shape;388;p53"/>
          <p:cNvPicPr preferRelativeResize="0"/>
          <p:nvPr/>
        </p:nvPicPr>
        <p:blipFill>
          <a:blip r:embed="rId4">
            <a:alphaModFix/>
          </a:blip>
          <a:stretch>
            <a:fillRect/>
          </a:stretch>
        </p:blipFill>
        <p:spPr>
          <a:xfrm>
            <a:off x="151950" y="4127425"/>
            <a:ext cx="6724650" cy="8763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id="393" name="Google Shape;393;p54"/>
          <p:cNvPicPr preferRelativeResize="0"/>
          <p:nvPr/>
        </p:nvPicPr>
        <p:blipFill>
          <a:blip r:embed="rId3">
            <a:alphaModFix/>
          </a:blip>
          <a:stretch>
            <a:fillRect/>
          </a:stretch>
        </p:blipFill>
        <p:spPr>
          <a:xfrm>
            <a:off x="1165725" y="152400"/>
            <a:ext cx="6812560" cy="48387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5"/>
          <p:cNvSpPr txBox="1"/>
          <p:nvPr/>
        </p:nvSpPr>
        <p:spPr>
          <a:xfrm>
            <a:off x="0" y="0"/>
            <a:ext cx="30000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50">
                <a:solidFill>
                  <a:srgbClr val="E3E3E3"/>
                </a:solidFill>
                <a:highlight>
                  <a:srgbClr val="383838"/>
                </a:highlight>
                <a:latin typeface="Courier New"/>
                <a:ea typeface="Courier New"/>
                <a:cs typeface="Courier New"/>
                <a:sym typeface="Courier New"/>
              </a:rPr>
              <a:t>Statistiques des erreurs entre les contours originaux et transformés :</a:t>
            </a:r>
            <a:endParaRPr sz="1050">
              <a:solidFill>
                <a:srgbClr val="E3E3E3"/>
              </a:solidFill>
              <a:highlight>
                <a:srgbClr val="383838"/>
              </a:highlight>
              <a:latin typeface="Courier New"/>
              <a:ea typeface="Courier New"/>
              <a:cs typeface="Courier New"/>
              <a:sym typeface="Courier New"/>
            </a:endParaRPr>
          </a:p>
          <a:p>
            <a:pPr indent="0" lvl="0" marL="0" rtl="0" algn="l">
              <a:spcBef>
                <a:spcPts val="0"/>
              </a:spcBef>
              <a:spcAft>
                <a:spcPts val="0"/>
              </a:spcAft>
              <a:buNone/>
            </a:pPr>
            <a:r>
              <a:rPr lang="fr" sz="1050">
                <a:solidFill>
                  <a:srgbClr val="E3E3E3"/>
                </a:solidFill>
                <a:highlight>
                  <a:srgbClr val="383838"/>
                </a:highlight>
                <a:latin typeface="Courier New"/>
                <a:ea typeface="Courier New"/>
                <a:cs typeface="Courier New"/>
                <a:sym typeface="Courier New"/>
              </a:rPr>
              <a:t>Distance cible 104: Erreur Moyenne = 2.9941, Erreur Maximale = 3.7829</a:t>
            </a:r>
            <a:endParaRPr sz="1050">
              <a:solidFill>
                <a:srgbClr val="E3E3E3"/>
              </a:solidFill>
              <a:highlight>
                <a:srgbClr val="383838"/>
              </a:highlight>
              <a:latin typeface="Courier New"/>
              <a:ea typeface="Courier New"/>
              <a:cs typeface="Courier New"/>
              <a:sym typeface="Courier New"/>
            </a:endParaRPr>
          </a:p>
          <a:p>
            <a:pPr indent="0" lvl="0" marL="0" rtl="0" algn="l">
              <a:spcBef>
                <a:spcPts val="0"/>
              </a:spcBef>
              <a:spcAft>
                <a:spcPts val="0"/>
              </a:spcAft>
              <a:buNone/>
            </a:pPr>
            <a:r>
              <a:rPr lang="fr" sz="1050">
                <a:solidFill>
                  <a:srgbClr val="E3E3E3"/>
                </a:solidFill>
                <a:highlight>
                  <a:srgbClr val="383838"/>
                </a:highlight>
                <a:latin typeface="Courier New"/>
                <a:ea typeface="Courier New"/>
                <a:cs typeface="Courier New"/>
                <a:sym typeface="Courier New"/>
              </a:rPr>
              <a:t>Distance cible 119: Erreur Moyenne = 3.0369, Erreur Maximale = 3.9963</a:t>
            </a:r>
            <a:endParaRPr sz="1050">
              <a:solidFill>
                <a:srgbClr val="E3E3E3"/>
              </a:solidFill>
              <a:highlight>
                <a:srgbClr val="383838"/>
              </a:highlight>
              <a:latin typeface="Courier New"/>
              <a:ea typeface="Courier New"/>
              <a:cs typeface="Courier New"/>
              <a:sym typeface="Courier New"/>
            </a:endParaRPr>
          </a:p>
          <a:p>
            <a:pPr indent="0" lvl="0" marL="0" rtl="0" algn="l">
              <a:spcBef>
                <a:spcPts val="0"/>
              </a:spcBef>
              <a:spcAft>
                <a:spcPts val="0"/>
              </a:spcAft>
              <a:buNone/>
            </a:pPr>
            <a:r>
              <a:rPr lang="fr" sz="1050">
                <a:solidFill>
                  <a:srgbClr val="E3E3E3"/>
                </a:solidFill>
                <a:highlight>
                  <a:srgbClr val="383838"/>
                </a:highlight>
                <a:latin typeface="Courier New"/>
                <a:ea typeface="Courier New"/>
                <a:cs typeface="Courier New"/>
                <a:sym typeface="Courier New"/>
              </a:rPr>
              <a:t>Distance cible 129: Erreur Moyenne = 3.0803, Erreur Maximale = 4.1070</a:t>
            </a:r>
            <a:endParaRPr sz="1050">
              <a:solidFill>
                <a:srgbClr val="E3E3E3"/>
              </a:solidFill>
              <a:highlight>
                <a:srgbClr val="383838"/>
              </a:highlight>
              <a:latin typeface="Courier New"/>
              <a:ea typeface="Courier New"/>
              <a:cs typeface="Courier New"/>
              <a:sym typeface="Courier New"/>
            </a:endParaRPr>
          </a:p>
          <a:p>
            <a:pPr indent="0" lvl="0" marL="0" rtl="0" algn="l">
              <a:spcBef>
                <a:spcPts val="0"/>
              </a:spcBef>
              <a:spcAft>
                <a:spcPts val="0"/>
              </a:spcAft>
              <a:buNone/>
            </a:pPr>
            <a:r>
              <a:rPr lang="fr" sz="1050">
                <a:solidFill>
                  <a:srgbClr val="E3E3E3"/>
                </a:solidFill>
                <a:highlight>
                  <a:srgbClr val="383838"/>
                </a:highlight>
                <a:latin typeface="Courier New"/>
                <a:ea typeface="Courier New"/>
                <a:cs typeface="Courier New"/>
                <a:sym typeface="Courier New"/>
              </a:rPr>
              <a:t>Distance cible 139: Erreur Moyenne = 3.1442, Erreur Maximale = 4.2558</a:t>
            </a:r>
            <a:endParaRPr sz="1050">
              <a:solidFill>
                <a:srgbClr val="E3E3E3"/>
              </a:solidFill>
              <a:highlight>
                <a:srgbClr val="383838"/>
              </a:highlight>
              <a:latin typeface="Courier New"/>
              <a:ea typeface="Courier New"/>
              <a:cs typeface="Courier New"/>
              <a:sym typeface="Courier New"/>
            </a:endParaRPr>
          </a:p>
          <a:p>
            <a:pPr indent="0" lvl="0" marL="0" rtl="0" algn="l">
              <a:spcBef>
                <a:spcPts val="0"/>
              </a:spcBef>
              <a:spcAft>
                <a:spcPts val="0"/>
              </a:spcAft>
              <a:buNone/>
            </a:pPr>
            <a:r>
              <a:rPr lang="fr" sz="1050">
                <a:solidFill>
                  <a:srgbClr val="E3E3E3"/>
                </a:solidFill>
                <a:highlight>
                  <a:srgbClr val="383838"/>
                </a:highlight>
                <a:latin typeface="Courier New"/>
                <a:ea typeface="Courier New"/>
                <a:cs typeface="Courier New"/>
                <a:sym typeface="Courier New"/>
              </a:rPr>
              <a:t>Distance cible 149: Erreur Moyenne = 3.3142, Erreur Maximale = 4.4543</a:t>
            </a:r>
            <a:endParaRPr sz="1050">
              <a:solidFill>
                <a:srgbClr val="E3E3E3"/>
              </a:solidFill>
              <a:highlight>
                <a:srgbClr val="383838"/>
              </a:highlight>
              <a:latin typeface="Courier New"/>
              <a:ea typeface="Courier New"/>
              <a:cs typeface="Courier New"/>
              <a:sym typeface="Courier New"/>
            </a:endParaRPr>
          </a:p>
          <a:p>
            <a:pPr indent="0" lvl="0" marL="0" rtl="0" algn="l">
              <a:spcBef>
                <a:spcPts val="0"/>
              </a:spcBef>
              <a:spcAft>
                <a:spcPts val="0"/>
              </a:spcAft>
              <a:buNone/>
            </a:pPr>
            <a:r>
              <a:rPr lang="fr" sz="1050">
                <a:solidFill>
                  <a:srgbClr val="E3E3E3"/>
                </a:solidFill>
                <a:highlight>
                  <a:srgbClr val="383838"/>
                </a:highlight>
                <a:latin typeface="Courier New"/>
                <a:ea typeface="Courier New"/>
                <a:cs typeface="Courier New"/>
                <a:sym typeface="Courier New"/>
              </a:rPr>
              <a:t>Distance cible 159: Erreur Moyenne = 3.4252, Erreur Maximale = 4.6502</a:t>
            </a:r>
            <a:endParaRPr sz="1050">
              <a:solidFill>
                <a:srgbClr val="E3E3E3"/>
              </a:solidFill>
              <a:highlight>
                <a:srgbClr val="383838"/>
              </a:highlight>
              <a:latin typeface="Courier New"/>
              <a:ea typeface="Courier New"/>
              <a:cs typeface="Courier New"/>
              <a:sym typeface="Courier New"/>
            </a:endParaRPr>
          </a:p>
          <a:p>
            <a:pPr indent="0" lvl="0" marL="0" rtl="0" algn="l">
              <a:spcBef>
                <a:spcPts val="0"/>
              </a:spcBef>
              <a:spcAft>
                <a:spcPts val="0"/>
              </a:spcAft>
              <a:buNone/>
            </a:pPr>
            <a:r>
              <a:rPr lang="fr" sz="1050">
                <a:solidFill>
                  <a:srgbClr val="E3E3E3"/>
                </a:solidFill>
                <a:highlight>
                  <a:srgbClr val="383838"/>
                </a:highlight>
                <a:latin typeface="Courier New"/>
                <a:ea typeface="Courier New"/>
                <a:cs typeface="Courier New"/>
                <a:sym typeface="Courier New"/>
              </a:rPr>
              <a:t>Distance cible 174: Erreur Moyenne = 3.6120, Erreur Maximale = 4.9048</a:t>
            </a:r>
            <a:endParaRPr/>
          </a:p>
        </p:txBody>
      </p:sp>
      <p:pic>
        <p:nvPicPr>
          <p:cNvPr id="399" name="Google Shape;399;p55"/>
          <p:cNvPicPr preferRelativeResize="0"/>
          <p:nvPr/>
        </p:nvPicPr>
        <p:blipFill>
          <a:blip r:embed="rId3">
            <a:alphaModFix/>
          </a:blip>
          <a:stretch>
            <a:fillRect/>
          </a:stretch>
        </p:blipFill>
        <p:spPr>
          <a:xfrm>
            <a:off x="3152400" y="152400"/>
            <a:ext cx="5839201" cy="4176732"/>
          </a:xfrm>
          <a:prstGeom prst="rect">
            <a:avLst/>
          </a:prstGeom>
          <a:noFill/>
          <a:ln>
            <a:noFill/>
          </a:ln>
        </p:spPr>
      </p:pic>
      <p:pic>
        <p:nvPicPr>
          <p:cNvPr id="400" name="Google Shape;400;p55"/>
          <p:cNvPicPr preferRelativeResize="0"/>
          <p:nvPr/>
        </p:nvPicPr>
        <p:blipFill>
          <a:blip r:embed="rId4">
            <a:alphaModFix/>
          </a:blip>
          <a:stretch>
            <a:fillRect/>
          </a:stretch>
        </p:blipFill>
        <p:spPr>
          <a:xfrm>
            <a:off x="210650" y="4238650"/>
            <a:ext cx="5510600" cy="7181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pic>
        <p:nvPicPr>
          <p:cNvPr id="405" name="Google Shape;405;p56"/>
          <p:cNvPicPr preferRelativeResize="0"/>
          <p:nvPr/>
        </p:nvPicPr>
        <p:blipFill>
          <a:blip r:embed="rId3">
            <a:alphaModFix/>
          </a:blip>
          <a:stretch>
            <a:fillRect/>
          </a:stretch>
        </p:blipFill>
        <p:spPr>
          <a:xfrm>
            <a:off x="152400" y="152400"/>
            <a:ext cx="6734202" cy="48387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pic>
        <p:nvPicPr>
          <p:cNvPr id="410" name="Google Shape;410;p57"/>
          <p:cNvPicPr preferRelativeResize="0"/>
          <p:nvPr/>
        </p:nvPicPr>
        <p:blipFill>
          <a:blip r:embed="rId3">
            <a:alphaModFix/>
          </a:blip>
          <a:stretch>
            <a:fillRect/>
          </a:stretch>
        </p:blipFill>
        <p:spPr>
          <a:xfrm>
            <a:off x="152400" y="152400"/>
            <a:ext cx="6764652" cy="48387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8"/>
          <p:cNvSpPr txBox="1"/>
          <p:nvPr>
            <p:ph idx="1" type="body"/>
          </p:nvPr>
        </p:nvSpPr>
        <p:spPr>
          <a:xfrm>
            <a:off x="3435000" y="1786600"/>
            <a:ext cx="3801000" cy="1142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fr" sz="5500"/>
              <a:t>Merci pour votre attention</a:t>
            </a:r>
            <a:endParaRPr sz="55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